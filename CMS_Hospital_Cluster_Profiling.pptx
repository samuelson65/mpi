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Markup Ratio by Cluster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Markup Ratio (charge ÷ payment)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Moderate markup, low Medicare pay share</c:v>
                  </c:pt>
                  <c:pt idx="1">
                    <c:v>Conservative pricing (low markup)</c:v>
                  </c:pt>
                  <c:pt idx="2">
                    <c:v>Extreme markup (aggressive pricing)</c:v>
                  </c:pt>
                  <c:pt idx="3">
                    <c:v>Typical pricing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4.14</c:v>
                </c:pt>
                <c:pt idx="1">
                  <c:v>2.53</c:v>
                </c:pt>
                <c:pt idx="2">
                  <c:v>9.66</c:v>
                </c:pt>
                <c:pt idx="3">
                  <c:v>4.51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Markup ratio (x)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Operating Margin by Cluster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Operating Margin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23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Labor-cost heavy</c:v>
                  </c:pt>
                  <c:pt idx="1">
                    <c:v>High-margin + high uncompensated care</c:v>
                  </c:pt>
                  <c:pt idx="2">
                    <c:v>Baseline financials</c:v>
                  </c:pt>
                  <c:pt idx="3">
                    <c:v>Medicaid-dependent</c:v>
                  </c:pt>
                  <c:pt idx="4">
                    <c:v>Contract-labor dependent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-1.6</c:v>
                </c:pt>
                <c:pt idx="1">
                  <c:v>10.5</c:v>
                </c:pt>
                <c:pt idx="2">
                  <c:v>8.4</c:v>
                </c:pt>
                <c:pt idx="3">
                  <c:v>-2.9</c:v>
                </c:pt>
                <c:pt idx="4">
                  <c:v>-1.1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General community hospital</c:v>
                  </c:pt>
                  <c:pt idx="1">
                    <c:v>Broad service line</c:v>
                  </c:pt>
                  <c:pt idx="2">
                    <c:v>Specialty/niche (low complexity)</c:v>
                  </c:pt>
                  <c:pt idx="3">
                    <c:v>High-complexity case mix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1441</c:v>
                </c:pt>
                <c:pt idx="1">
                  <c:v>536</c:v>
                </c:pt>
                <c:pt idx="2">
                  <c:v>136</c:v>
                </c:pt>
                <c:pt idx="3">
                  <c:v>681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Hospitals</c:v>
                </c:pt>
              </c:strCache>
            </c:strRef>
          </c:tx>
          <c:spPr>
            <a:solidFill>
              <a:srgbClr val="2F8F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Major teaching hospital</c:v>
                  </c:pt>
                  <c:pt idx="1">
                    <c:v>Non-teaching community</c:v>
                  </c:pt>
                  <c:pt idx="2">
                    <c:v>Broad-service, low-teaching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286</c:v>
                </c:pt>
                <c:pt idx="1">
                  <c:v>1962</c:v>
                </c:pt>
                <c:pt idx="2">
                  <c:v>546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Cluster Separation Quality (Silhouette Score)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E8A2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2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Financial Health</c:v>
                  </c:pt>
                  <c:pt idx="1">
                    <c:v>Pricing &amp; Billing Behavior</c:v>
                  </c:pt>
                  <c:pt idx="2">
                    <c:v>Clinical Case-Mix</c:v>
                  </c:pt>
                  <c:pt idx="3">
                    <c:v>Operational Scale &amp; Utilization</c:v>
                  </c:pt>
                  <c:pt idx="4">
                    <c:v>Solvency &amp; Balance Sheet</c:v>
                  </c:pt>
                  <c:pt idx="5">
                    <c:v>Payer Mix Composition</c:v>
                  </c:pt>
                  <c:pt idx="6">
                    <c:v>Teaching &amp; Academic Intensity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0.24</c:v>
                </c:pt>
                <c:pt idx="1">
                  <c:v>0.308</c:v>
                </c:pt>
                <c:pt idx="2">
                  <c:v>0.438</c:v>
                </c:pt>
                <c:pt idx="3">
                  <c:v>0.323</c:v>
                </c:pt>
                <c:pt idx="4">
                  <c:v>0.484</c:v>
                </c:pt>
                <c:pt idx="5">
                  <c:v>0.46</c:v>
                </c:pt>
                <c:pt idx="6">
                  <c:v>0.564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b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Distribution of Risk Convergence Scores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2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Score 0</c:v>
                  </c:pt>
                  <c:pt idx="1">
                    <c:v>Score 1</c:v>
                  </c:pt>
                  <c:pt idx="2">
                    <c:v>Score 2</c:v>
                  </c:pt>
                  <c:pt idx="3">
                    <c:v>Score 3</c:v>
                  </c:pt>
                  <c:pt idx="4">
                    <c:v>Score 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1540</c:v>
                </c:pt>
                <c:pt idx="1">
                  <c:v>865</c:v>
                </c:pt>
                <c:pt idx="2">
                  <c:v>333</c:v>
                </c:pt>
                <c:pt idx="3">
                  <c:v>55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Provider Profiling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Multi-Perspective Clustering for Payment Integrity Risk Screening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2,794 U.S. Hospitals  |  7 Independent Clustering Perspectives  |  CMS Cost Report + Medicare Inpatient DRG Data (2023)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2,794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Profiled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4709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Perspectives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4709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03504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Risk-Flagged Candidates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41080" y="4709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CCN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4108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Identifier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 CMS public-use hospital cost report &amp; inpatient PUF datasets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profile, seven independent lenses, per hospital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2,794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profiled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≥100 Medicare inpatient discharges, joined across both CMS datasets by CCN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783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perspectives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Financial, Pricing, Case-Mix, Scale, Solvency, Payer Mix, Teaching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783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Risk-convergence candidates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flagged as unusual by 2+ independent perspectives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17830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silhouette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9720" y="2834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&amp; Academic Intensity — cleanest, most stable perspective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2057400"/>
          </a:xfrm>
          <a:prstGeom prst="roundRect">
            <a:avLst>
              <a:gd name="adj" fmla="val 2667"/>
            </a:avLst>
          </a:prstGeom>
          <a:solidFill>
            <a:srgbClr val="FBEEE6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metric reliably flags payment-integrity risk. A hospital with an extreme markup ratio can be a genuine referral center with pricing power (healthy margin) or a distressed facility pricing aggressively to survive (negative margin) — the same number, opposite story. The value of this approach is convergence: hospitals flagged by multiple independent lenses simultaneously are the strongest, most defensible candidates for review.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2037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756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Cost Reports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3682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2019–2023 · ~6,000 hospitals/yr · financials, beds, staffing, balance sheet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0723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44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Inpatient DRG PUF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23697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2020–2024 · ~2,900–3,000 hospitals/yr · charges, payments, case mix by DRG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9410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key: CCN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10565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6-digit Medicare Certification Number, common to both files. No NPI present in either source.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8097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817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year: 2023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97433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year with full overlap between both datasets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50876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21945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67728" y="2148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67728" y="241401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with ≥100 Medicare discharges (removes low-volume noise) → 2,794 facilities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301752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67728" y="2971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67728" y="323697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features across margin, pricing, case-mix, capacity, solvency, payer mix, teaching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3840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67728" y="3794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Winsorize &amp; scale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67728" y="405993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at 1st/99th percentile, median-impute (&lt;10% missing), standardize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46634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663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67728" y="4617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independently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67728" y="488289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per perspective; k chosen by best silhouette (tested k=3–7)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54864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5486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67728" y="54406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967728" y="57058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stability, bootstrap resampling, method agreement, real-hospital face check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7-Perspective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hospital carries a fingerprint across all seven — not one composite label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24028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Margin, salary %, contract labor %, uncompensated care %, Medicaid revenue 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1764792"/>
            <a:ext cx="384048" cy="384048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224028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Billing Behavior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7432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ratio, cost-to-charge ratio, Medicare payment share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7647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82512" y="224028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Case-Mix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27432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(complexity) share, DRG concentration, distinct DRGs treated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2" y="17647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21715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17152" y="224028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7152" y="274320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Beds, occupancy rate, FTE per bed, discharge volume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913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43891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Solvency &amp; Balance Sheet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89204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ratio, debt-to-asset ratio, fund balance %, bad debt 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7872" y="3913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547872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47872" y="43891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Mix Composition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47872" y="489204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/ Medicaid / other-payer discharge shares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7490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3913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82512" y="43891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&amp; Academic Intensity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82512" y="489204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FTE per bed, distinct DRGs (service breadth)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— Pricing &amp; Billing Behavior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clearest payment-integrity signal of the seven perspectives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309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54480"/>
            <a:ext cx="4553712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Cluster: Extreme Markup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0" y="2057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376 hospitals · avg markup 9.3x charge-to-payment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0" y="2423160"/>
            <a:ext cx="4160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cluster's chargemaster prices run roughly 2 standard deviations above peers, paired with the lowest reported cost-to-charge ratio of any group.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cross-referenced against the Financial Health perspective independently, ~49% of these hospitals also land in the high-margin + high-uncompensated-care cluster — two separate lenses agreeing is stronger evidence than either alone.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action: reconcile cost-to-charge ratio reporting and charity-care documentation for this group first.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— Financial Health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distinct financial archetypes emerge from margin &amp; cost-structure features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51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clusters worth watching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3524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Contract-labor dependent (n=311)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35240" y="2487168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temp/contract staffing — a classic financial-distress signature, independent of pricing behavior.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35240" y="3246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margin + high uncompensated care (n=411)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35240" y="374904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Counterintuitive pairing: strong profitability alongside the highest charity/uncompensated-care claims. Worth reconciling against bad-debt detail.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— Clinical Case-Mix &amp; Teaching Intensity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Distinguishing specialization from complexity, and academic centers from their satellites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Case-Mix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394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hospitals show extreme DRG concentration + near-zero complexity — a specialty/niche pattern (e.g., orthopedic hospitals) worth checking for case-selection / cherry-picking of profitable procedures.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&amp; Academic Intensity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874520"/>
          <a:ext cx="53949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263640" y="41605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real hospitals: Johns Hopkins, Mass General, Stanford Health Care, and Duke University Hospital all correctly land in the teaching cluster — while their same-brand community satellites (e.g., Vanderbilt Bedford County) correctly do not.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Confidence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perspective was stress-tested before being trusted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51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checks passed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3524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0956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stability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09560" y="23865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0.98–1.00 ARI — results don't depend on random initialization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3524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stability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09560" y="30723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0.83–0.98 ARI — robust to removing 20% of hospitals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635240" y="3520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09560" y="3493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agreement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09560" y="37581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with hierarchical clustering; boundaries fuzzier for Financial Health &amp; Solvency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63524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09560" y="4178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validity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09560" y="44439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academic medical centers land exactly where expected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63524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909560" y="4864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09560" y="51297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&lt;10% for all features — imputation impact is minimal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Convergence Scoring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independent flags per hospital — not any single metric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flags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550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Pricing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9293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Extreme-markup cluster (Pricing &amp; Billing)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323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Specialty/Niche Case-Mix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7066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concentration + low complexity cluster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95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Uncompensated + Margin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4838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contradiction cluster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9867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Contract-Labor Stress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2611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Financial-distress cluster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640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Bad Debt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50383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Solvency cluster with elevated write-offs</a:t>
            </a:r>
            <a:endParaRPr lang="en-US" sz="9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92240" y="1463040"/>
          <a:ext cx="5166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492240" y="5623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389 hospitals score ≥2 — flagged by two or more independent perspectives simultaneously.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 Candidates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Risk Convergence Scores — see full list of 389 in companion workbook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5120640"/>
                <a:gridCol w="1188720"/>
                <a:gridCol w="1371600"/>
                <a:gridCol w="1737360"/>
                <a:gridCol w="1645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Hospital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Markup Ratio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Op. Margin</a:t>
                      </a:r>
                      <a:endParaRPr lang="en-US" sz="10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CENTRAL MISSISSIPPI MEDICAL CENTER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MS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7.33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-2.3%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BAPTIST HEALTH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TX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10.5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19.5%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HENDRICK MEDICAL CENTER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TX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9.22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33.5%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TEXOMA MEDICAL CENTER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TX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8.61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10.9%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UT HEALTH EAST TEXAS TYLER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TX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7.55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-21.5%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COVENANT MEDICAL CENTER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TX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10.76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-7.8%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MANATEE MEMORIAL HOSPITAL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FL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10.19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1.8%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HCA FLORIDA ORANGE PARK HOSPITAL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FL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13.1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33.9%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PIEDMONT MEDICAL CENTER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SC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622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9.22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19.8%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score = count of independent perspectives flagging the hospital as unusual (0–5). A screening prioritizer, not a determination of overpayment.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47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 beats single metrics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0391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hospital flagged by 2+ independent lenses is a materially stronger candidate than one flagged by a single ratio alone.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90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34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behavior is a clean, isolated signal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821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Best-separated perspective (0.31 silhouette) — markup outliers are not simply a byproduct of size or case mix.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33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hospitals warrant a different lens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3251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Low-complexity, high-concentration case-mix clusters point to case-selection risk, not billing-code risk.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76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51206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 &amp; Solvency need care at the edges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4681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signal, but boundaries are more method-sensitive — verify borderline (Low fit-confidence) hospitals before acting.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Hospital Provider Profiling  |  Payment Integrity Risk Screening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883664"/>
            <a:ext cx="128016" cy="128016"/>
          </a:xfrm>
          <a:prstGeom prst="ellipse">
            <a:avLst/>
          </a:prstGeom>
          <a:solidFill>
            <a:srgbClr val="63B8E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190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the 389 risk-convergence candidates to SME review, starting with score ≥3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69464"/>
            <a:ext cx="128016" cy="128016"/>
          </a:xfrm>
          <a:prstGeom prst="ellipse">
            <a:avLst/>
          </a:prstGeom>
          <a:solidFill>
            <a:srgbClr val="63B8E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048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8th perspective: 2019–2023 year-over-year trajectory (margin volatility, closure risk)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255264"/>
            <a:ext cx="128016" cy="128016"/>
          </a:xfrm>
          <a:prstGeom prst="ellipse">
            <a:avLst/>
          </a:prstGeom>
          <a:solidFill>
            <a:srgbClr val="63B8E8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906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in geographic market concentration (CBSA-level competitive density)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941064"/>
            <a:ext cx="128016" cy="128016"/>
          </a:xfrm>
          <a:prstGeom prst="ellipse">
            <a:avLst/>
          </a:prstGeom>
          <a:solidFill>
            <a:srgbClr val="63B8E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764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confirmed candidates, pursue claim-level detail — this analysis stops at facility-level screening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deliverable: CMS_Hospital_Cluster_Profiling_CCN.xlsx — full CCN-level data, cluster dictionary, and risk-candidate list.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2026-07-20T05:40:55Z</dcterms:created>
  <dcterms:modified xsi:type="dcterms:W3CDTF">2026-07-20T05:40:55Z</dcterms:modified>
</cp:coreProperties>
</file>