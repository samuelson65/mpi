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182880"/>
            <a:ext cx="2286000" cy="228600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PROVIDER RISK GRAPH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Traveling Physician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Pattern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multi-facility billing and uneven CDI capacity combine to create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documentation-error blind spot — illustrated with a real NPI case study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499262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413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34640" y="4892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224" y="49926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8880" y="5413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Gap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846320" y="4892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499262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5413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858000" y="4892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499262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2240" y="5413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Case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8869680" y="4892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264" y="499262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03920" y="5413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Multi-Facility Physicians Carry Elevated Documentation Risk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conditions compound into a blind spot no single facility can see on its own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18608" cy="3977640"/>
          </a:xfrm>
          <a:prstGeom prst="roundRect">
            <a:avLst>
              <a:gd name="adj" fmla="val 1839"/>
            </a:avLst>
          </a:prstGeom>
          <a:solidFill>
            <a:srgbClr val="F4FAF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402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239458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86000"/>
            <a:ext cx="403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91640" y="2542032"/>
            <a:ext cx="4038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Physicians bill across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facilities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68680" y="3429000"/>
            <a:ext cx="467852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Locum tenens and traveling hospitalists submit claims through many different CCNs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facility's compliance team sees only its own slice of that physician's claims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habits travel with the physician — not with any one hospital's process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24448" y="1920240"/>
            <a:ext cx="5318608" cy="3977640"/>
          </a:xfrm>
          <a:prstGeom prst="roundRect">
            <a:avLst>
              <a:gd name="adj" fmla="val 1839"/>
            </a:avLst>
          </a:prstGeom>
          <a:solidFill>
            <a:srgbClr val="F4FAF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44488" y="2240280"/>
            <a:ext cx="685800" cy="685800"/>
          </a:xfrm>
          <a:prstGeom prst="ellipse">
            <a:avLst/>
          </a:prstGeom>
          <a:solidFill>
            <a:srgbClr val="C08A1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793" y="2394585"/>
            <a:ext cx="377190" cy="3771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67448" y="2286000"/>
            <a:ext cx="403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467448" y="2542032"/>
            <a:ext cx="4038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Smaller facilities can't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 a full CDI team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6644488" y="3429000"/>
            <a:ext cx="467852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/ lower-volume hospitals often lack the concurrent CDI staffing larger systems have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CDI review, there's no one positioned to query or push back on a physician's documentation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visiting physician's habits pass through unchallenged, claim after claim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Risk Graph — Case Study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Small Facilities Can't Overrule the Physician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effect: mobility + weak CDI capacity = a pattern invisible to any single audit team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72288" y="192024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38100" dir="54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0968" y="21945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560" y="23591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448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Physician arrives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5168" y="36118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Locum or contract hospitalist begins admitting at a lower-volume facility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2996032" y="3520440"/>
            <a:ext cx="347472" cy="0"/>
          </a:xfrm>
          <a:prstGeom prst="line">
            <a:avLst/>
          </a:prstGeom>
          <a:noFill/>
          <a:ln w="25400">
            <a:solidFill>
              <a:srgbClr val="5B7B7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98368" y="192024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38100" dir="54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67048" y="2194560"/>
            <a:ext cx="731520" cy="731520"/>
          </a:xfrm>
          <a:prstGeom prst="ellipse">
            <a:avLst/>
          </a:prstGeom>
          <a:solidFill>
            <a:srgbClr val="C08A1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640" y="235915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5528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CDI leverage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81248" y="36118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lacks concurrent CDI staff to query ambiguous or incomplete documentation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5922112" y="3520440"/>
            <a:ext cx="347472" cy="0"/>
          </a:xfrm>
          <a:prstGeom prst="line">
            <a:avLst/>
          </a:prstGeom>
          <a:noFill/>
          <a:ln w="25400">
            <a:solidFill>
              <a:srgbClr val="5B7B7E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324448" y="192024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38100" dir="5400000">
              <a:srgbClr val="000000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93128" y="219456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720" y="235915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61608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passes through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507328" y="36118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codes from what's documented — no one is positioned to challenge it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8848192" y="3520440"/>
            <a:ext cx="347472" cy="0"/>
          </a:xfrm>
          <a:prstGeom prst="line">
            <a:avLst/>
          </a:prstGeom>
          <a:noFill/>
          <a:ln w="25400">
            <a:solidFill>
              <a:srgbClr val="5B7B7E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9250528" y="192024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38100" dir="5400000">
              <a:srgbClr val="000000">
                <a:alpha val="9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119208" y="2194560"/>
            <a:ext cx="731520" cy="731520"/>
          </a:xfrm>
          <a:prstGeom prst="ellipse">
            <a:avLst/>
          </a:prstGeom>
          <a:solidFill>
            <a:srgbClr val="023E4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800" y="235915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87688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hides in isolation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433408" y="36118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facility sees only a few cases — never enough volume to look like a trend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real, recurring documentation pattern that no single facility's audit volume can statistically detect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Risk Graph — Case Study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EVIDENCE — PLACEHOLDER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Aggregation: Findings Across Facilities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F4FAF9"/>
          </a:solidFill>
          <a:ln w="19050">
            <a:solidFill>
              <a:srgbClr val="B7D8D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638648" y="17830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248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63040" y="3291840"/>
            <a:ext cx="9235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aggregated DRG mix, CC/MCC capture rate, and LOS pattern for this NPI across all billing facilities, compared against single-facility peer benchmarks.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side-by-side view of what one facility's audit team would see in isolation vs. the aggregated cross-facility view.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statistical flag — does the aggregated pattern exceed the specialty peer-group threshold?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Risk Graph — Case Study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NPI 1124345830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A Multi-Facility Hospitalist Profile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from open-source NPI and facility data — no internal chart review yet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" y="233857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IDENTITY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45920" y="247802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Medicine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331720" y="3246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1124345830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36850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331720" y="36850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(Type 1)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412394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331720" y="41239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21, 2010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8680" y="45628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331720" y="45628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207R00000X — Internal Medicine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68680" y="50017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(public)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331720" y="50017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across 6 states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68680" y="54406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331720" y="54406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IN, GA, SC, NY, CT, AL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26280" y="1874520"/>
            <a:ext cx="70866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4632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326" y="2242566"/>
            <a:ext cx="544068" cy="5440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623560" y="2240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FOOTPRINT (PUBLIC RECORDS)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846320" y="29077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3"/>
          <p:cNvSpPr/>
          <p:nvPr/>
        </p:nvSpPr>
        <p:spPr>
          <a:xfrm>
            <a:off x="5120640" y="27889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Franciscan Health Lafayette East — Lafayette, IN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846320" y="33009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5"/>
          <p:cNvSpPr/>
          <p:nvPr/>
        </p:nvSpPr>
        <p:spPr>
          <a:xfrm>
            <a:off x="5120640" y="318211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Memorial Health Univ. Medical Center — Savannah, GA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846320" y="36941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7"/>
          <p:cNvSpPr/>
          <p:nvPr/>
        </p:nvSpPr>
        <p:spPr>
          <a:xfrm>
            <a:off x="5120640" y="357530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Phoebe Putney Memorial Hospital — Albany, GA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846320" y="408736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29"/>
          <p:cNvSpPr/>
          <p:nvPr/>
        </p:nvSpPr>
        <p:spPr>
          <a:xfrm>
            <a:off x="5120640" y="396849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Randolph Hospital — Asheboro, NC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4846320" y="44805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1"/>
          <p:cNvSpPr/>
          <p:nvPr/>
        </p:nvSpPr>
        <p:spPr>
          <a:xfrm>
            <a:off x="5120640" y="436168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 Memorial Hospital — Rome, NY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846320" y="48737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3"/>
          <p:cNvSpPr/>
          <p:nvPr/>
        </p:nvSpPr>
        <p:spPr>
          <a:xfrm>
            <a:off x="5120640" y="47548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W. Backus Hospital — Norwich, CT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846320" y="52669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Text 35"/>
          <p:cNvSpPr/>
          <p:nvPr/>
        </p:nvSpPr>
        <p:spPr>
          <a:xfrm>
            <a:off x="5120640" y="514807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Strand Regional Medical Center — Myrtle Beach, SC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4846320" y="56601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1" name="Text 37"/>
          <p:cNvSpPr/>
          <p:nvPr/>
        </p:nvSpPr>
        <p:spPr>
          <a:xfrm>
            <a:off x="5120640" y="554126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Bluffton Regional Medical Center — Bluffton, IN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Risk Graph — Case Study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FACILITY 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Risk Characteristics Across the Footprint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facility this physician touches carries its own independent risk signal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Franciscan Health Lafayette East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Nonprofit · 177 beds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Teaching hospital, Magnet-accredited — no distress flags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Memorial Health Univ. Medical Center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For-profit (HCA) · ~600-700 beds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I trauma, teaching hospital — converted from nonprofit in 2018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Phoebe Putney Memorial Hospital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Nonprofit (publicly-owned facility) · 691 beds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 independent report: below national quality average, above-peer 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Randolph Hospital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Nonprofit · 145 beds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 11 bankruptcy (2020), sold to new operator — financial distress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Rome Memorial Hospital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Nonprofit · small community hospital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scale, rural setting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W. Backus Hospital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Nonprofit · 213 beds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hospital — no distress flags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Strand Regional Medical Center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For-profit (HCA) · ~345-403 beds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I trauma, large regional facility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Bluffton Regional Medical Center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Nonprofit (Parkview Health) · small community hospital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scale, rural setting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Risk Graph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CHART-LEVEL EVIDENCE — PLACEHOLDER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Review Findings Across Facilities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F4FAF9"/>
          </a:solidFill>
          <a:ln w="19050">
            <a:solidFill>
              <a:srgbClr val="B7D8D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638648" y="17830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248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63040" y="3291840"/>
            <a:ext cx="9235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sample of charts pulled for this NPI across at least two different facilities.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does the same Level-2 error category (e.g., A1, A2, B, C, D) recur regardless of which facility billed the claim?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conclusion — physician-level habit vs. facility-specific process gap.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Risk Graph — Case Study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DATA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Open-Source NPI Data Landscape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that can characterize any provider's behavior, context, and risk profile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54298" cy="1828800"/>
          </a:xfrm>
          <a:prstGeom prst="roundRect">
            <a:avLst>
              <a:gd name="adj" fmla="val 3500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842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2025396"/>
            <a:ext cx="466344" cy="466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65960"/>
            <a:ext cx="24027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NPPES Registry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2624328"/>
            <a:ext cx="305196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taxonomy, entity type, enumeration date, practice address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368698" y="1783080"/>
            <a:ext cx="3454298" cy="1828800"/>
          </a:xfrm>
          <a:prstGeom prst="roundRect">
            <a:avLst>
              <a:gd name="adj" fmla="val 3500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9866" y="19842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014" y="2025396"/>
            <a:ext cx="466344" cy="4663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7378" y="1965960"/>
            <a:ext cx="24027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PECOS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69866" y="2624328"/>
            <a:ext cx="305196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enrollment status, reassignment (NPI1 ↔ NPI2 linkage)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8188757" y="1783080"/>
            <a:ext cx="3454298" cy="1828800"/>
          </a:xfrm>
          <a:prstGeom prst="roundRect">
            <a:avLst>
              <a:gd name="adj" fmla="val 3500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89925" y="19842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073" y="2025396"/>
            <a:ext cx="466344" cy="4663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7437" y="1965960"/>
            <a:ext cx="24027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Physician &amp; Inpatient PUFs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89925" y="2624328"/>
            <a:ext cx="305196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volume, service mix, DRG mix, charge-to-payment ratios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3454298" cy="1828800"/>
          </a:xfrm>
          <a:prstGeom prst="roundRect">
            <a:avLst>
              <a:gd name="adj" fmla="val 3500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40873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4128516"/>
            <a:ext cx="466344" cy="4663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069080"/>
            <a:ext cx="24027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OIG LEIE / SAM.gov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49808" y="4727448"/>
            <a:ext cx="305196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exclusion and debarment status — hard compliance flags</a:t>
            </a:r>
            <a:endParaRPr lang="en-US" sz="1030" dirty="0"/>
          </a:p>
        </p:txBody>
      </p:sp>
      <p:sp>
        <p:nvSpPr>
          <p:cNvPr id="25" name="Shape 19"/>
          <p:cNvSpPr/>
          <p:nvPr/>
        </p:nvSpPr>
        <p:spPr>
          <a:xfrm>
            <a:off x="4368698" y="3886200"/>
            <a:ext cx="3454298" cy="1828800"/>
          </a:xfrm>
          <a:prstGeom prst="roundRect">
            <a:avLst>
              <a:gd name="adj" fmla="val 3500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69866" y="40873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014" y="4128516"/>
            <a:ext cx="466344" cy="4663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37378" y="4069080"/>
            <a:ext cx="24027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 Open Payments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69866" y="4727448"/>
            <a:ext cx="305196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relationships with pharma/device companies</a:t>
            </a:r>
            <a:endParaRPr lang="en-US" sz="1030" dirty="0"/>
          </a:p>
        </p:txBody>
      </p:sp>
      <p:sp>
        <p:nvSpPr>
          <p:cNvPr id="30" name="Shape 23"/>
          <p:cNvSpPr/>
          <p:nvPr/>
        </p:nvSpPr>
        <p:spPr>
          <a:xfrm>
            <a:off x="8188757" y="3886200"/>
            <a:ext cx="3454298" cy="1828800"/>
          </a:xfrm>
          <a:prstGeom prst="roundRect">
            <a:avLst>
              <a:gd name="adj" fmla="val 3500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89925" y="40873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1073" y="4128516"/>
            <a:ext cx="466344" cy="4663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57437" y="4069080"/>
            <a:ext cx="24027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Compare / POS File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89925" y="4727448"/>
            <a:ext cx="305196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CCN, quality ratings, ownership type, bed size, teaching status</a:t>
            </a:r>
            <a:endParaRPr lang="en-US" sz="103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Risk Graph — Case Study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Providers with Similar Behavior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open-source + internal signals into a feature vector, then grouping providers algorithmically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3728" y="19202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38100" dir="54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232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32608" y="212140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9242" y="2168042"/>
            <a:ext cx="528523" cy="5285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2328" y="2697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Feature Vector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2328" y="34290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NPI1: facility count, state spread, ownership-type mix, facility distress/quality flags, billing volume, specialty peer percentile, internal error-rate history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01872" y="3566160"/>
            <a:ext cx="347472" cy="0"/>
          </a:xfrm>
          <a:prstGeom prst="line">
            <a:avLst/>
          </a:prstGeom>
          <a:noFill/>
          <a:ln w="25400">
            <a:solidFill>
              <a:srgbClr val="5B7B7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04208" y="19202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38100" dir="5400000">
              <a:srgbClr val="000000">
                <a:alpha val="9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3280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873088" y="212140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722" y="2168042"/>
            <a:ext cx="528523" cy="52852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32808" y="2697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 &amp; Reduce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32808" y="34290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 to comparable ranges; use PCA or similar to reduce dimensionality before clustering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842352" y="3566160"/>
            <a:ext cx="347472" cy="0"/>
          </a:xfrm>
          <a:prstGeom prst="line">
            <a:avLst/>
          </a:prstGeom>
          <a:noFill/>
          <a:ln w="25400">
            <a:solidFill>
              <a:srgbClr val="5B7B7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8244688" y="19202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38100" dir="5400000">
              <a:srgbClr val="000000">
                <a:alpha val="9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47328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10713568" y="212140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202" y="2168042"/>
            <a:ext cx="528523" cy="52852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73288" y="2697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(e.g., k-means / HDBSCAN)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473288" y="34290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physicians into behavior segments — e.g., ‘stable single-facility,’ ‘multi-facility stable,’ ‘high-mobility elevated-risk’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provider segments that share behavioral characteristics — letting audit teams prioritize by segment, not just by individual score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Risk Graph — Case Study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RESULTS — PLACEHOLDER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Segments Identified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F4FAF9"/>
          </a:solidFill>
          <a:ln w="19050">
            <a:solidFill>
              <a:srgbClr val="B7D8D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638648" y="17830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248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63040" y="3291840"/>
            <a:ext cx="9235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resulting clusters (e.g., number of segments, size of each, defining characteristics of each segment).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which segment this case-study NPI falls into, and how that segment's error rate compares to others.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recommended audit-prioritization action per segment.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Risk Graph — Case Study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3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43560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07008" y="1362456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this NPI's actual inpatient claims internally — aggregate DRG mix, CC/MCC capture, and LOS across every billing facility, and compare to a single-facility view.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6829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68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2295144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charts across at least two different facilities for this physician to test whether the same error category recurs regardless of location.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300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322783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the facility-attribute schema (ownership, distress flags, quality flags, bed size) from the POS file and Care Compare for every CCN in the system.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23367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233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416052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full provider feature vector and run the clustering methodology across the physician population, not just this one case.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1663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509320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resulting segments to prioritize audit sampling — starting with the highest-risk cluster this case study is hypothesized to belong to.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Risk Graph — Case Study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Traveling Physician Risk Pattern — Case Study</dc:title>
  <dc:subject>PptxGenJS Presentation</dc:subject>
  <dc:creator>DRG Audit Framework</dc:creator>
  <cp:lastModifiedBy>DRG Audit Framework</cp:lastModifiedBy>
  <cp:revision>1</cp:revision>
  <dcterms:created xsi:type="dcterms:W3CDTF">2026-07-11T06:30:03Z</dcterms:created>
  <dcterms:modified xsi:type="dcterms:W3CDTF">2026-07-11T06:30:03Z</dcterms:modified>
</cp:coreProperties>
</file>