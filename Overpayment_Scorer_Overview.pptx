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f2dc083-3144-5b57-49b5-71575ff9f1a9}">
          <p14:sldIdLst>
            <p14:sldId id="256"/>
            <p14:sldId id="257"/>
          </p14:sldIdLst>
        </p14:section>
        <p14:section name="How it works" id="{7773673f-1df7-c705-e5e0-a4696bc85487}">
          <p14:sldIdLst>
            <p14:sldId id="258"/>
            <p14:sldId id="259"/>
            <p14:sldId id="260"/>
            <p14:sldId id="261"/>
            <p14:sldId id="262"/>
          </p14:sldIdLst>
        </p14:section>
        <p14:section name="Results" id="{f0381ab5-3364-f088-4f66-eb112eb883c2}">
          <p14:sldIdLst>
            <p14:sldId id="263"/>
            <p14:sldId id="264"/>
          </p14:sldIdLst>
        </p14:section>
        <p14:section name="Using it" id="{cc0c449e-0963-012c-c3ba-b628e36b00fd}">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2"/>
                </a:solidFill>
                <a:latin typeface="+mn-lt"/>
              </a:defRPr>
            </a:pPr>
            <a:r>
              <a:rPr sz="1400" b="0" i="0" u="none" strike="noStrike">
                <a:solidFill>
                  <a:schemeClr val="tx2"/>
                </a:solidFill>
                <a:latin typeface="+mn-lt"/>
              </a:rPr>
              <a:t>What happened when each finding was corrected</a:t>
            </a:r>
          </a:p>
        </c:rich>
      </c:tx>
      <c:layout/>
      <c:overlay val="0"/>
    </c:title>
    <c:autoTitleDeleted val="0"/>
    <c:plotArea>
      <c:layout/>
      <c:barChart>
        <c:barDir val="bar"/>
        <c:grouping val="clustered"/>
        <c:varyColors val="0"/>
        <c:ser>
          <c:idx val="0"/>
          <c:order val="0"/>
          <c:tx>
            <c:strRef>
              <c:f>Sheet1!$B$1</c:f>
              <c:strCache>
                <c:ptCount val="1"/>
                <c:pt idx="0">
                  <c:v>Findings</c:v>
                </c:pt>
              </c:strCache>
            </c:strRef>
          </c:tx>
          <c:spPr>
            <a:solidFill>
              <a:srgbClr val="B42318"/>
            </a:solidFill>
            <a:effectLst/>
          </c:spPr>
          <c:invertIfNegative val="0"/>
          <c:dLbls>
            <c:numFmt formatCode="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8A9BA1"/>
              </a:solidFill>
              <a:effectLst/>
            </c:spPr>
          </c:dPt>
          <c:dPt>
            <c:idx val="2"/>
            <c:invertIfNegative val="0"/>
            <c:bubble3D val="0"/>
            <c:spPr>
              <a:solidFill>
                <a:srgbClr val="C9871F"/>
              </a:solidFill>
              <a:effectLst/>
            </c:spPr>
          </c:dPt>
          <c:dPt>
            <c:idx val="3"/>
            <c:invertIfNegative val="0"/>
            <c:bubble3D val="0"/>
            <c:spPr>
              <a:solidFill>
                <a:srgbClr val="2E7D5B"/>
              </a:solidFill>
              <a:effectLst/>
            </c:spPr>
          </c:dPt>
          <c:cat>
            <c:multiLvlStrRef>
              <c:f>Sheet1!$A$2:$A$5</c:f>
              <c:multiLvlStrCache>
                <c:ptCount val="4"/>
                <c:lvl>
                  <c:pt idx="0">
                    <c:v>Lowered payment</c:v>
                  </c:pt>
                  <c:pt idx="1">
                    <c:v>No payment change</c:v>
                  </c:pt>
                  <c:pt idx="2">
                    <c:v>Could not simulate</c:v>
                  </c:pt>
                  <c:pt idx="3">
                    <c:v>Raised payment</c:v>
                  </c:pt>
                </c:lvl>
              </c:multiLvlStrCache>
            </c:multiLvlStrRef>
          </c:cat>
          <c:val>
            <c:numRef>
              <c:f>Sheet1!$B$2:$B$5</c:f>
              <c:numCache>
                <c:formatCode>General</c:formatCode>
                <c:ptCount val="4"/>
                <c:pt idx="0">
                  <c:v>17</c:v>
                </c:pt>
                <c:pt idx="1">
                  <c:v>36</c:v>
                </c:pt>
                <c:pt idx="2">
                  <c:v>4</c:v>
                </c:pt>
                <c:pt idx="3">
                  <c:v>2</c:v>
                </c:pt>
              </c:numCache>
            </c:numRef>
          </c:val>
        </c:ser>
        <c:dLbls>
          <c:numFmt formatCode="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2"/>
                </a:solidFill>
                <a:latin typeface="+mn-lt"/>
              </a:defRPr>
            </a:pPr>
            <a:r>
              <a:rPr sz="1400" b="0" i="0" u="none" strike="noStrike">
                <a:solidFill>
                  <a:schemeClr val="tx2"/>
                </a:solidFill>
                <a:latin typeface="+mn-lt"/>
              </a:rPr>
              <a:t>Metric weights (payment-integrity preset)</a:t>
            </a:r>
          </a:p>
        </c:rich>
      </c:tx>
      <c:layout/>
      <c:overlay val="0"/>
    </c:title>
    <c:autoTitleDeleted val="0"/>
    <c:plotArea>
      <c:layout/>
      <c:barChart>
        <c:barDir val="bar"/>
        <c:grouping val="clustered"/>
        <c:varyColors val="0"/>
        <c:ser>
          <c:idx val="0"/>
          <c:order val="0"/>
          <c:tx>
            <c:strRef>
              <c:f>Sheet1!$B$1</c:f>
              <c:strCache>
                <c:ptCount val="1"/>
                <c:pt idx="0">
                  <c:v>Weight</c:v>
                </c:pt>
              </c:strCache>
            </c:strRef>
          </c:tx>
          <c:spPr>
            <a:solidFill>
              <a:schemeClr val="accent2"/>
            </a:solidFill>
            <a:effectLst/>
          </c:spPr>
          <c:invertIfNegative val="0"/>
          <c:dLbls>
            <c:numFmt formatCode="0.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cat>
            <c:multiLvlStrRef>
              <c:f>Sheet1!$A$2:$A$9</c:f>
              <c:multiLvlStrCache>
                <c:ptCount val="8"/>
                <c:lvl>
                  <c:pt idx="0">
                    <c:v>Payment impact</c:v>
                  </c:pt>
                  <c:pt idx="1">
                    <c:v>Audit risk</c:v>
                  </c:pt>
                  <c:pt idx="2">
                    <c:v>Disease severity</c:v>
                  </c:pt>
                  <c:pt idx="3">
                    <c:v>Precision</c:v>
                  </c:pt>
                  <c:pt idx="4">
                    <c:v>Strength</c:v>
                  </c:pt>
                  <c:pt idx="5">
                    <c:v>Precedence</c:v>
                  </c:pt>
                  <c:pt idx="6">
                    <c:v>Specificity</c:v>
                  </c:pt>
                  <c:pt idx="7">
                    <c:v>Breadth</c:v>
                  </c:pt>
                </c:lvl>
              </c:multiLvlStrCache>
            </c:multiLvlStrRef>
          </c:cat>
          <c:val>
            <c:numRef>
              <c:f>Sheet1!$B$2:$B$9</c:f>
              <c:numCache>
                <c:formatCode>General</c:formatCode>
                <c:ptCount val="8"/>
                <c:pt idx="0">
                  <c:v>3</c:v>
                </c:pt>
                <c:pt idx="1">
                  <c:v>2.5</c:v>
                </c:pt>
                <c:pt idx="2">
                  <c:v>2</c:v>
                </c:pt>
                <c:pt idx="3">
                  <c:v>2</c:v>
                </c:pt>
                <c:pt idx="4">
                  <c:v>1.5</c:v>
                </c:pt>
                <c:pt idx="5">
                  <c:v>1.5</c:v>
                </c:pt>
                <c:pt idx="6">
                  <c:v>1</c:v>
                </c:pt>
                <c:pt idx="7">
                  <c:v>1</c:v>
                </c:pt>
              </c:numCache>
            </c:numRef>
          </c:val>
        </c:ser>
        <c:dLbls>
          <c:numFmt formatCode="0.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chemeClr val="tx2"/>
                </a:solidFill>
                <a:latin typeface="+mn-lt"/>
              </a:defRPr>
            </a:pPr>
            <a:r>
              <a:rPr sz="1400" b="0" i="0" u="none" strike="noStrike">
                <a:solidFill>
                  <a:schemeClr val="tx2"/>
                </a:solidFill>
                <a:latin typeface="+mn-lt"/>
              </a:rPr>
              <a:t>Top 10 overpayment scores (red High, amber Medium, slate Low)</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B42318"/>
            </a:solidFill>
            <a:effectLst/>
          </c:spPr>
          <c:invertIfNegative val="0"/>
          <c:dLbls>
            <c:numFmt formatCode="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dPt>
            <c:idx val="0"/>
            <c:invertIfNegative val="0"/>
            <c:bubble3D val="0"/>
            <c:spPr>
              <a:solidFill>
                <a:srgbClr val="B42318"/>
              </a:solidFill>
              <a:effectLst/>
            </c:spPr>
          </c:dPt>
          <c:dPt>
            <c:idx val="1"/>
            <c:invertIfNegative val="0"/>
            <c:bubble3D val="0"/>
            <c:spPr>
              <a:solidFill>
                <a:srgbClr val="B42318"/>
              </a:solidFill>
              <a:effectLst/>
            </c:spPr>
          </c:dPt>
          <c:dPt>
            <c:idx val="2"/>
            <c:invertIfNegative val="0"/>
            <c:bubble3D val="0"/>
            <c:spPr>
              <a:solidFill>
                <a:srgbClr val="B42318"/>
              </a:solidFill>
              <a:effectLst/>
            </c:spPr>
          </c:dPt>
          <c:dPt>
            <c:idx val="3"/>
            <c:invertIfNegative val="0"/>
            <c:bubble3D val="0"/>
            <c:spPr>
              <a:solidFill>
                <a:srgbClr val="C9871F"/>
              </a:solidFill>
              <a:effectLst/>
            </c:spPr>
          </c:dPt>
          <c:dPt>
            <c:idx val="4"/>
            <c:invertIfNegative val="0"/>
            <c:bubble3D val="0"/>
            <c:spPr>
              <a:solidFill>
                <a:srgbClr val="C9871F"/>
              </a:solidFill>
              <a:effectLst/>
            </c:spPr>
          </c:dPt>
          <c:dPt>
            <c:idx val="5"/>
            <c:invertIfNegative val="0"/>
            <c:bubble3D val="0"/>
            <c:spPr>
              <a:solidFill>
                <a:srgbClr val="3F6470"/>
              </a:solidFill>
              <a:effectLst/>
            </c:spPr>
          </c:dPt>
          <c:dPt>
            <c:idx val="6"/>
            <c:invertIfNegative val="0"/>
            <c:bubble3D val="0"/>
            <c:spPr>
              <a:solidFill>
                <a:srgbClr val="3F6470"/>
              </a:solidFill>
              <a:effectLst/>
            </c:spPr>
          </c:dPt>
          <c:dPt>
            <c:idx val="7"/>
            <c:invertIfNegative val="0"/>
            <c:bubble3D val="0"/>
            <c:spPr>
              <a:solidFill>
                <a:srgbClr val="3F6470"/>
              </a:solidFill>
              <a:effectLst/>
            </c:spPr>
          </c:dPt>
          <c:dPt>
            <c:idx val="8"/>
            <c:invertIfNegative val="0"/>
            <c:bubble3D val="0"/>
            <c:spPr>
              <a:solidFill>
                <a:srgbClr val="3F6470"/>
              </a:solidFill>
              <a:effectLst/>
            </c:spPr>
          </c:dPt>
          <c:dPt>
            <c:idx val="9"/>
            <c:invertIfNegative val="0"/>
            <c:bubble3D val="0"/>
            <c:spPr>
              <a:solidFill>
                <a:srgbClr val="3F6470"/>
              </a:solidFill>
              <a:effectLst/>
            </c:spPr>
          </c:dPt>
          <c:cat>
            <c:multiLvlStrRef>
              <c:f>Sheet1!$A$2:$A$11</c:f>
              <c:multiLvlStrCache>
                <c:ptCount val="10"/>
                <c:lvl>
                  <c:pt idx="0">
                    <c:v>T05 Severe sepsis, no infection coded</c:v>
                  </c:pt>
                  <c:pt idx="1">
                    <c:v>T08 Hypertension + CKD not combined</c:v>
                  </c:pt>
                  <c:pt idx="2">
                    <c:v>T01 External cause as principal</c:v>
                  </c:pt>
                  <c:pt idx="3">
                    <c:v>T13 Symptom code as principal</c:v>
                  </c:pt>
                  <c:pt idx="4">
                    <c:v>T06 Sepsis behind local infection</c:v>
                  </c:pt>
                  <c:pt idx="5">
                    <c:v>T03 Sepsis as principal</c:v>
                  </c:pt>
                  <c:pt idx="6">
                    <c:v>T17 Respiratory failure as MCC</c:v>
                  </c:pt>
                  <c:pt idx="7">
                    <c:v>T18 Severe malnutrition</c:v>
                  </c:pt>
                  <c:pt idx="8">
                    <c:v>T19 Encephalopathy</c:v>
                  </c:pt>
                  <c:pt idx="9">
                    <c:v>T20 Acute kidney failure</c:v>
                  </c:pt>
                </c:lvl>
              </c:multiLvlStrCache>
            </c:multiLvlStrRef>
          </c:cat>
          <c:val>
            <c:numRef>
              <c:f>Sheet1!$B$2:$B$11</c:f>
              <c:numCache>
                <c:formatCode>General</c:formatCode>
                <c:ptCount val="10"/>
                <c:pt idx="0">
                  <c:v>61</c:v>
                </c:pt>
                <c:pt idx="1">
                  <c:v>47</c:v>
                </c:pt>
                <c:pt idx="2">
                  <c:v>40</c:v>
                </c:pt>
                <c:pt idx="3">
                  <c:v>30</c:v>
                </c:pt>
                <c:pt idx="4">
                  <c:v>27</c:v>
                </c:pt>
                <c:pt idx="5">
                  <c:v>22</c:v>
                </c:pt>
                <c:pt idx="6">
                  <c:v>22</c:v>
                </c:pt>
                <c:pt idx="7">
                  <c:v>22</c:v>
                </c:pt>
                <c:pt idx="8">
                  <c:v>22</c:v>
                </c:pt>
                <c:pt idx="9">
                  <c:v>22</c:v>
                </c:pt>
              </c:numCache>
            </c:numRef>
          </c:val>
        </c:ser>
        <c:dLbls>
          <c:numFmt formatCode="0" sourceLinked="0"/>
          <c:txPr>
            <a:bodyPr/>
            <a:lstStyle/>
            <a:p>
              <a:pPr>
                <a:defRPr b="0" i="0" strike="noStrike" sz="1400" u="none">
                  <a:solidFill>
                    <a:schemeClr val="tx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chemeClr val="tx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at a high level, how the guideline navigator scores claims for overpayment review. The tool reads the diagnosis and procedure codes on each claim, checks them against the FY 2025 ICD-10-CM Official Guidelines, groups the claim with the MS-DRG grouper, prices it at FY 2026 IPPS rates and returns one score from 0 to 100 per claim: the estimated chance that a review ends in an overpayment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Guideline violations and overpayments are not the same thing. Across the 33 test claims the checks raised 59 findings, but only 17 lowered the payment when the correction was applied and the claim was regrouped and repriced. 36 left the DRG unchanged, usually because another code already carried the same CC or MCC level. An overpayment review built on those would close as no finding. That is why the score only counts findings whose correction lowers payment. The test claims are synthetic, built to exercise each rule, so the proportion on real claims will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passes through six steps. Codes are validated against the FY 2026 code set. The guideline checks look for code patterns the guidelines forbid or question, plus high-value diagnoses auditors routinely validate. The claim is grouped and priced as billed. Then, for every finding, the page applies the correction (resequence, combine, remove or downgrade a code), regroups and reprices the claim, and records whether the payment drops. Finally it combines the payment-lowering findings into the score and writes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in the FY 2025 guidelines was scored on eight metrics: payment impact, audit risk, disease severity, precision (how checkable it is from codes alone), strength of the instruction, precedence in the guideline hierarchy, specificity and breadth. The weighted score ranks the rules into four tiers. The weights can be changed in the navigator, and the rule score feeds into the claim score: a finding backed by a stronger rule is more likely to be upheld.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grouper is the drgpy MS-DRG v43.1 logic translated to JavaScript. 26,468 claims were grouped by the page and by drgpy in Python with no differences. The pricer applies the FY 2026 IPPS payment steps: operating and capital payments, transfer per diem rules from CMS SE1411 and cost outliers. It was compared with a separately written Python pricer on 8,310 cases and with hand calculations. Present-on-admission indicators are not used yet, and add-on payments such as new technology are not priced.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estimates how likely each finding is to be upheld: a base rate by finding type, scaled by the strength of the guideline rule behind it. Step 2 keeps only the part that would recover money: 100 percent if the correction lowers payment, zero if it does not, 35 percent if the payment effect cannot be simulated from codes, and 10 percent for outpatient claims. Step 3 combines the findings with a 2 percent baseline into one score, and the expected recovery is each chance times its payment drop. The base rates are estimates until they are calibrated with real audit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claim behind the Try an example button. As billed it groups to MS-DRG 193, simple pneumonia with MCC, priced at $9,564.57. Five findings fire. Two are real coding errors, the hypertension and CKD combination and the diabetes contradiction, but correcting them leaves the claim in DRG 193, so they add nothing to the score. Only severe malnutrition moves the money: if it is not supported and is downgraded to moderate malnutrition, the claim loses its only MCC and drops to DRG 194 at $5,864.34, a $3,700 difference. With a 21 percent chance of being upheld, the score is 22, Low, with an expected recovery of $760.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33 test claims, the highest scores go to coding errors that change the DRG and are visible in the codes, such as severe sepsis coded without its infection or hypertension and CKD coded separately. Single clinical validation targets, such as malnutrition or encephalopathy acting as the only MCC, land around 22 because those are upheld less often. Four claims cross the default threshold of 30. Claims with errors that do not change payment fall to Minimal. You can also rank by expected recovery in dollars instead of by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tests load the shipped HTML file and run its own embedded code, then compare against independent references: drgpy in Python for grouping, a separately written Python pricer, hand-specified expected outcomes for 33 scenario claims and an independent recomputation of the scoring math. A browser test uploads the template, scores it and compares the Excel export with the Node results. Testing found ten issues, all fixed, including transfer status codes, the retired N18.3 code, and a missed overpayment where two MCCs shadowed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guideline_navigator.html in a browser; nothing is installed and claims stay on your machine. Fill in Claims_Upload_Template.xlsx with one row per claim, upload it in the Claims tab, confirm the column mapping, set the hospital factors used for pricing and run the scoring. The ranked list opens a score card for any claim, and the Excel download keeps your sheets and adds the scores, drivers, bands, a DRG summary, the method and the guideline catalog. The Word document explains the method in detail and the test report lists every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next step is calibration: map past audit outcomes in the upload, and the page already reports outcome rates and AUC by band, so the estimated base rates can be replaced with measured ones. After that, adding present-on-admission flags, grouping each claim with the MS-DRG version in effect on its discharge date, and pricing add-on payments would make the payment estimates closer to what was actually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7680960" cy="109728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4" name="Text 0"/>
          <p:cNvSpPr/>
          <p:nvPr/>
        </p:nvSpPr>
        <p:spPr>
          <a:xfrm>
            <a:off x="731520" y="5989320"/>
            <a:ext cx="3657600" cy="365760"/>
          </a:xfrm>
          <a:prstGeom prst="rect">
            <a:avLst/>
          </a:prstGeom>
          <a:noFill/>
          <a:ln/>
        </p:spPr>
        <p:txBody>
          <a:bodyPr wrap="square" lIns="0" tIns="0" rIns="0" bIns="0" rtlCol="0" anchor="ctr"/>
          <a:lstStyle/>
          <a:p>
            <a:pPr indent="0" marL="0">
              <a:buNone/>
            </a:pPr>
            <a:r>
              <a:rPr lang="en-US" sz="1200" dirty="0">
                <a:solidFill>
                  <a:schemeClr val="accent5"/>
                </a:solidFill>
              </a:rPr>
              <a:t>October 2026</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Claim overpayment scorer · October 2026</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7680960" cy="1737360"/>
          </a:xfrm>
          <a:prstGeom prst="rect">
            <a:avLst/>
          </a:prstGeom>
          <a:noFill/>
          <a:ln/>
        </p:spPr>
        <p:txBody>
          <a:bodyPr wrap="square" lIns="0" tIns="0" rIns="0" bIns="0" rtlCol="0" anchor="b"/>
          <a:lstStyle/>
          <a:p>
            <a:pPr algn="l" indent="0" marL="0">
              <a:buNone/>
            </a:pPr>
            <a:r>
              <a:rPr lang="en-US" sz="4400" b="1" dirty="0">
                <a:solidFill>
                  <a:schemeClr val="bg1"/>
                </a:solidFill>
              </a:rPr>
              <a:t>Finding claims that are actually overpaid</a:t>
            </a:r>
            <a:endParaRPr lang="en-US" sz="4400" dirty="0"/>
          </a:p>
        </p:txBody>
      </p:sp>
      <p:sp>
        <p:nvSpPr>
          <p:cNvPr id="3" name="Text 0"/>
          <p:cNvSpPr/>
          <p:nvPr>
            <p:ph idx="101" type="body" hasCustomPrompt="1"/>
          </p:nvPr>
        </p:nvSpPr>
        <p:spPr>
          <a:xfrm>
            <a:off x="731520" y="3657600"/>
            <a:ext cx="7680960" cy="1097280"/>
          </a:xfrm>
          <a:prstGeom prst="rect">
            <a:avLst/>
          </a:prstGeom>
          <a:noFill/>
          <a:ln/>
        </p:spPr>
        <p:txBody>
          <a:bodyPr wrap="square" lIns="0" tIns="0" rIns="0" bIns="0" rtlCol="0" anchor="t"/>
          <a:lstStyle/>
          <a:p>
            <a:pPr algn="l" indent="0" marL="0">
              <a:buNone/>
            </a:pPr>
            <a:r>
              <a:rPr lang="en-US" sz="2000" dirty="0">
                <a:solidFill>
                  <a:schemeClr val="accent6"/>
                </a:solidFill>
              </a:rPr>
              <a:t>A claim-level overpayment score built on the ICD-10-CM guidelines, the MS-DRG grouper and FY 2026 IPPS pricing</a:t>
            </a:r>
            <a:endParaRPr lang="en-US" sz="2000" dirty="0"/>
          </a:p>
        </p:txBody>
      </p:sp>
      <p:sp>
        <p:nvSpPr>
          <p:cNvPr id="4" name="score ring"/>
          <p:cNvSpPr/>
          <p:nvPr/>
        </p:nvSpPr>
        <p:spPr>
          <a:xfrm>
            <a:off x="9006840" y="1783080"/>
            <a:ext cx="2514600" cy="2514600"/>
          </a:xfrm>
          <a:prstGeom prst="ellipse">
            <a:avLst/>
          </a:prstGeom>
          <a:solidFill>
            <a:schemeClr val="tx1"/>
          </a:solidFill>
          <a:ln w="127000">
            <a:solidFill>
              <a:schemeClr val="accent1"/>
            </a:solidFill>
            <a:prstDash val="solid"/>
          </a:ln>
        </p:spPr>
      </p:sp>
      <p:sp>
        <p:nvSpPr>
          <p:cNvPr id="5" name="Text 3"/>
          <p:cNvSpPr txBox="1"/>
          <p:nvPr/>
        </p:nvSpPr>
        <p:spPr>
          <a:xfrm>
            <a:off x="9006840" y="2423160"/>
            <a:ext cx="2514600" cy="731520"/>
          </a:xfrm>
          <a:prstGeom prst="rect">
            <a:avLst/>
          </a:prstGeom>
          <a:noFill/>
          <a:ln/>
        </p:spPr>
        <p:txBody>
          <a:bodyPr wrap="square" lIns="0" tIns="0" rIns="0" bIns="0" rtlCol="0" anchor="ctr"/>
          <a:lstStyle/>
          <a:p>
            <a:pPr algn="ctr" indent="0" marL="0">
              <a:buNone/>
            </a:pPr>
            <a:r>
              <a:rPr lang="en-US" sz="4000" b="1" dirty="0">
                <a:solidFill>
                  <a:schemeClr val="bg1"/>
                </a:solidFill>
                <a:latin typeface="+mj-lt" pitchFamily="34" charset="0"/>
                <a:ea typeface="+mj-lt" pitchFamily="34" charset="-122"/>
                <a:cs typeface="+mj-lt" pitchFamily="34" charset="-120"/>
              </a:rPr>
              <a:t>0–100</a:t>
            </a:r>
            <a:endParaRPr lang="en-US" sz="4000" dirty="0"/>
          </a:p>
        </p:txBody>
      </p:sp>
      <p:sp>
        <p:nvSpPr>
          <p:cNvPr id="6" name="Text 4"/>
          <p:cNvSpPr txBox="1"/>
          <p:nvPr/>
        </p:nvSpPr>
        <p:spPr>
          <a:xfrm>
            <a:off x="9006840" y="3154680"/>
            <a:ext cx="2514600" cy="640080"/>
          </a:xfrm>
          <a:prstGeom prst="rect">
            <a:avLst/>
          </a:prstGeom>
          <a:noFill/>
          <a:ln/>
        </p:spPr>
        <p:txBody>
          <a:bodyPr wrap="square" lIns="0" tIns="0" rIns="0" bIns="0" rtlCol="0" anchor="t"/>
          <a:lstStyle/>
          <a:p>
            <a:pPr algn="ctr" indent="0" marL="0">
              <a:buNone/>
            </a:pPr>
            <a:r>
              <a:rPr lang="en-US" sz="1400" dirty="0">
                <a:solidFill>
                  <a:schemeClr val="accent6"/>
                </a:solidFill>
              </a:rPr>
              <a:t>overpayment score</a:t>
            </a:r>
            <a:endParaRPr lang="en-US" sz="1400" dirty="0"/>
          </a:p>
          <a:p>
            <a:pPr algn="ctr" indent="0" marL="0">
              <a:buNone/>
            </a:pPr>
            <a:r>
              <a:rPr lang="en-US" sz="1400" dirty="0">
                <a:solidFill>
                  <a:schemeClr val="accent6"/>
                </a:solidFill>
              </a:rPr>
              <a:t>per claim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Most guideline errors don't move the money</a:t>
            </a:r>
            <a:endParaRPr lang="en-US" sz="3600" dirty="0"/>
          </a:p>
        </p:txBody>
      </p:sp>
      <p:sp>
        <p:nvSpPr>
          <p:cNvPr id="3" name="Text 1"/>
          <p:cNvSpPr txBox="1"/>
          <p:nvPr/>
        </p:nvSpPr>
        <p:spPr>
          <a:xfrm>
            <a:off x="548640" y="1417320"/>
            <a:ext cx="4937760" cy="91440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17 of 59</a:t>
            </a:r>
            <a:endParaRPr lang="en-US" sz="6000" dirty="0"/>
          </a:p>
        </p:txBody>
      </p:sp>
      <p:sp>
        <p:nvSpPr>
          <p:cNvPr id="4" name="Text 2"/>
          <p:cNvSpPr txBox="1"/>
          <p:nvPr/>
        </p:nvSpPr>
        <p:spPr>
          <a:xfrm>
            <a:off x="548640" y="2423160"/>
            <a:ext cx="4754880" cy="640080"/>
          </a:xfrm>
          <a:prstGeom prst="rect">
            <a:avLst/>
          </a:prstGeom>
          <a:noFill/>
          <a:ln/>
        </p:spPr>
        <p:txBody>
          <a:bodyPr wrap="square" lIns="0" tIns="0" rIns="0" bIns="0" rtlCol="0" anchor="t"/>
          <a:lstStyle/>
          <a:p>
            <a:pPr indent="0" marL="0">
              <a:buNone/>
            </a:pPr>
            <a:r>
              <a:rPr lang="en-US" sz="1600" dirty="0">
                <a:solidFill>
                  <a:schemeClr val="tx2"/>
                </a:solidFill>
              </a:rPr>
              <a:t>findings on the 33 test claims lowered the payment when they were corrected</a:t>
            </a:r>
            <a:endParaRPr lang="en-US" sz="1600" dirty="0"/>
          </a:p>
        </p:txBody>
      </p:sp>
      <p:sp>
        <p:nvSpPr>
          <p:cNvPr id="5" name="Text 3"/>
          <p:cNvSpPr txBox="1"/>
          <p:nvPr/>
        </p:nvSpPr>
        <p:spPr>
          <a:xfrm>
            <a:off x="548640" y="3337560"/>
            <a:ext cx="4846320" cy="24688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An error is an overpayment only if fixing it lowers the DRG payment</a:t>
            </a:r>
            <a:endParaRPr lang="en-US" sz="1600" dirty="0"/>
          </a:p>
          <a:p>
            <a:pPr marL="228600" indent="-228600">
              <a:spcAft>
                <a:spcPts val="1000"/>
              </a:spcAft>
              <a:buSzPct val="100000"/>
              <a:buChar char="•"/>
            </a:pPr>
            <a:r>
              <a:rPr lang="en-US" sz="1600" dirty="0">
                <a:solidFill>
                  <a:schemeClr val="tx1"/>
                </a:solidFill>
              </a:rPr>
              <a:t>If another code carries the same CC/MCC level, the DRG stays the same and a review closes as no finding</a:t>
            </a:r>
            <a:endParaRPr lang="en-US" sz="1600" dirty="0"/>
          </a:p>
          <a:p>
            <a:pPr marL="228600" indent="-228600">
              <a:spcAft>
                <a:spcPts val="1000"/>
              </a:spcAft>
              <a:buSzPct val="100000"/>
              <a:buChar char="•"/>
            </a:pPr>
            <a:r>
              <a:rPr lang="en-US" sz="1600" dirty="0">
                <a:solidFill>
                  <a:schemeClr val="tx1"/>
                </a:solidFill>
              </a:rPr>
              <a:t>So every finding is regrouped and repriced before it counts toward the score</a:t>
            </a:r>
            <a:endParaRPr lang="en-US" sz="1600" dirty="0"/>
          </a:p>
        </p:txBody>
      </p:sp>
      <p:graphicFrame>
        <p:nvGraphicFramePr>
          <p:cNvPr id="6" name="Chart 0" descr=""/>
          <p:cNvGraphicFramePr/>
          <p:nvPr/>
        </p:nvGraphicFramePr>
        <p:xfrm>
          <a:off x="5943600" y="1371600"/>
          <a:ext cx="5669280" cy="44805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Six steps from codes to a score</a:t>
            </a:r>
            <a:endParaRPr lang="en-US" sz="3600" dirty="0"/>
          </a:p>
        </p:txBody>
      </p:sp>
      <p:sp>
        <p:nvSpPr>
          <p:cNvPr id="3" name="loop band"/>
          <p:cNvSpPr/>
          <p:nvPr/>
        </p:nvSpPr>
        <p:spPr>
          <a:xfrm>
            <a:off x="4202582" y="1417320"/>
            <a:ext cx="5647334" cy="3977640"/>
          </a:xfrm>
          <a:prstGeom prst="roundRect">
            <a:avLst>
              <a:gd name="adj" fmla="val 2299"/>
            </a:avLst>
          </a:prstGeom>
          <a:solidFill>
            <a:schemeClr val="bg2"/>
          </a:solidFill>
          <a:ln w="6350">
            <a:solidFill>
              <a:schemeClr val="bg2"/>
            </a:solidFill>
            <a:prstDash val="solid"/>
          </a:ln>
        </p:spPr>
      </p:sp>
      <p:sp>
        <p:nvSpPr>
          <p:cNvPr id="4" name="Text 2"/>
          <p:cNvSpPr txBox="1"/>
          <p:nvPr/>
        </p:nvSpPr>
        <p:spPr>
          <a:xfrm>
            <a:off x="4312310" y="4754880"/>
            <a:ext cx="5427878" cy="502920"/>
          </a:xfrm>
          <a:prstGeom prst="rect">
            <a:avLst/>
          </a:prstGeom>
          <a:noFill/>
          <a:ln/>
        </p:spPr>
        <p:txBody>
          <a:bodyPr wrap="square" lIns="0" tIns="0" rIns="0" bIns="0" rtlCol="0" anchor="ctr"/>
          <a:lstStyle/>
          <a:p>
            <a:pPr algn="ctr" indent="0" marL="0">
              <a:buNone/>
            </a:pPr>
            <a:r>
              <a:rPr lang="en-US" sz="1400" i="1" dirty="0">
                <a:solidFill>
                  <a:schemeClr val="tx2"/>
                </a:solidFill>
              </a:rPr>
              <a:t>Repeated for every finding: correct, regroup, reprice</a:t>
            </a:r>
            <a:endParaRPr lang="en-US" sz="1400" dirty="0"/>
          </a:p>
        </p:txBody>
      </p:sp>
      <p:sp>
        <p:nvSpPr>
          <p:cNvPr id="5" name="step 1"/>
          <p:cNvSpPr/>
          <p:nvPr/>
        </p:nvSpPr>
        <p:spPr>
          <a:xfrm>
            <a:off x="548640"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6" name="step number 1"/>
          <p:cNvSpPr/>
          <p:nvPr/>
        </p:nvSpPr>
        <p:spPr>
          <a:xfrm>
            <a:off x="713232" y="1801368"/>
            <a:ext cx="502920" cy="502920"/>
          </a:xfrm>
          <a:prstGeom prst="ellipse">
            <a:avLst/>
          </a:prstGeom>
          <a:solidFill>
            <a:schemeClr val="accent2"/>
          </a:solidFill>
          <a:ln w="6350">
            <a:solidFill>
              <a:schemeClr val="accent2"/>
            </a:solidFill>
            <a:prstDash val="solid"/>
          </a:ln>
        </p:spPr>
      </p:sp>
      <p:sp>
        <p:nvSpPr>
          <p:cNvPr id="7" name="Text 5"/>
          <p:cNvSpPr txBox="1"/>
          <p:nvPr/>
        </p:nvSpPr>
        <p:spPr>
          <a:xfrm>
            <a:off x="713232"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6"/>
          <p:cNvSpPr txBox="1"/>
          <p:nvPr/>
        </p:nvSpPr>
        <p:spPr>
          <a:xfrm>
            <a:off x="713232"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Validate codes</a:t>
            </a:r>
            <a:endParaRPr lang="en-US" sz="1600" dirty="0"/>
          </a:p>
        </p:txBody>
      </p:sp>
      <p:sp>
        <p:nvSpPr>
          <p:cNvPr id="9" name="Text 7"/>
          <p:cNvSpPr txBox="1"/>
          <p:nvPr/>
        </p:nvSpPr>
        <p:spPr>
          <a:xfrm>
            <a:off x="713232"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FY 2026 code set; retired and incomplete codes flagged</a:t>
            </a:r>
            <a:endParaRPr lang="en-US" sz="1400" dirty="0"/>
          </a:p>
        </p:txBody>
      </p:sp>
      <p:sp>
        <p:nvSpPr>
          <p:cNvPr id="10" name="step 2"/>
          <p:cNvSpPr/>
          <p:nvPr/>
        </p:nvSpPr>
        <p:spPr>
          <a:xfrm>
            <a:off x="2430475"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1" name="step number 2"/>
          <p:cNvSpPr/>
          <p:nvPr/>
        </p:nvSpPr>
        <p:spPr>
          <a:xfrm>
            <a:off x="2595067" y="1801368"/>
            <a:ext cx="502920" cy="502920"/>
          </a:xfrm>
          <a:prstGeom prst="ellipse">
            <a:avLst/>
          </a:prstGeom>
          <a:solidFill>
            <a:schemeClr val="accent2"/>
          </a:solidFill>
          <a:ln w="6350">
            <a:solidFill>
              <a:schemeClr val="accent2"/>
            </a:solidFill>
            <a:prstDash val="solid"/>
          </a:ln>
        </p:spPr>
      </p:sp>
      <p:sp>
        <p:nvSpPr>
          <p:cNvPr id="12" name="Text 10"/>
          <p:cNvSpPr txBox="1"/>
          <p:nvPr/>
        </p:nvSpPr>
        <p:spPr>
          <a:xfrm>
            <a:off x="2595067"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11"/>
          <p:cNvSpPr txBox="1"/>
          <p:nvPr/>
        </p:nvSpPr>
        <p:spPr>
          <a:xfrm>
            <a:off x="2595067"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Check guidelines</a:t>
            </a:r>
            <a:endParaRPr lang="en-US" sz="1600" dirty="0"/>
          </a:p>
        </p:txBody>
      </p:sp>
      <p:sp>
        <p:nvSpPr>
          <p:cNvPr id="14" name="Text 12"/>
          <p:cNvSpPr txBox="1"/>
          <p:nvPr/>
        </p:nvSpPr>
        <p:spPr>
          <a:xfrm>
            <a:off x="2595067"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17 code checks and 12 validation targets, each tied to its rule</a:t>
            </a:r>
            <a:endParaRPr lang="en-US" sz="1400" dirty="0"/>
          </a:p>
        </p:txBody>
      </p:sp>
      <p:sp>
        <p:nvSpPr>
          <p:cNvPr id="15" name="step 3"/>
          <p:cNvSpPr/>
          <p:nvPr/>
        </p:nvSpPr>
        <p:spPr>
          <a:xfrm>
            <a:off x="4312310"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16" name="step number 3"/>
          <p:cNvSpPr/>
          <p:nvPr/>
        </p:nvSpPr>
        <p:spPr>
          <a:xfrm>
            <a:off x="4476902" y="1801368"/>
            <a:ext cx="502920" cy="502920"/>
          </a:xfrm>
          <a:prstGeom prst="ellipse">
            <a:avLst/>
          </a:prstGeom>
          <a:solidFill>
            <a:schemeClr val="accent2"/>
          </a:solidFill>
          <a:ln w="6350">
            <a:solidFill>
              <a:schemeClr val="accent2"/>
            </a:solidFill>
            <a:prstDash val="solid"/>
          </a:ln>
        </p:spPr>
      </p:sp>
      <p:sp>
        <p:nvSpPr>
          <p:cNvPr id="17" name="Text 15"/>
          <p:cNvSpPr txBox="1"/>
          <p:nvPr/>
        </p:nvSpPr>
        <p:spPr>
          <a:xfrm>
            <a:off x="4476902"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4476902"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Group</a:t>
            </a:r>
            <a:endParaRPr lang="en-US" sz="1600" dirty="0"/>
          </a:p>
        </p:txBody>
      </p:sp>
      <p:sp>
        <p:nvSpPr>
          <p:cNvPr id="19" name="Text 17"/>
          <p:cNvSpPr txBox="1"/>
          <p:nvPr/>
        </p:nvSpPr>
        <p:spPr>
          <a:xfrm>
            <a:off x="4476902"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MS-DRG v43.1 (drgpy logic) assigns the billed DRG</a:t>
            </a:r>
            <a:endParaRPr lang="en-US" sz="1400" dirty="0"/>
          </a:p>
        </p:txBody>
      </p:sp>
      <p:sp>
        <p:nvSpPr>
          <p:cNvPr id="20" name="step 4"/>
          <p:cNvSpPr/>
          <p:nvPr/>
        </p:nvSpPr>
        <p:spPr>
          <a:xfrm>
            <a:off x="6194146"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1" name="step number 4"/>
          <p:cNvSpPr/>
          <p:nvPr/>
        </p:nvSpPr>
        <p:spPr>
          <a:xfrm>
            <a:off x="6358738" y="1801368"/>
            <a:ext cx="502920" cy="502920"/>
          </a:xfrm>
          <a:prstGeom prst="ellipse">
            <a:avLst/>
          </a:prstGeom>
          <a:solidFill>
            <a:schemeClr val="accent2"/>
          </a:solidFill>
          <a:ln w="6350">
            <a:solidFill>
              <a:schemeClr val="accent2"/>
            </a:solidFill>
            <a:prstDash val="solid"/>
          </a:ln>
        </p:spPr>
      </p:sp>
      <p:sp>
        <p:nvSpPr>
          <p:cNvPr id="22" name="Text 20"/>
          <p:cNvSpPr txBox="1"/>
          <p:nvPr/>
        </p:nvSpPr>
        <p:spPr>
          <a:xfrm>
            <a:off x="6358738"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Text 21"/>
          <p:cNvSpPr txBox="1"/>
          <p:nvPr/>
        </p:nvSpPr>
        <p:spPr>
          <a:xfrm>
            <a:off x="6358738"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Price</a:t>
            </a:r>
            <a:endParaRPr lang="en-US" sz="1600" dirty="0"/>
          </a:p>
        </p:txBody>
      </p:sp>
      <p:sp>
        <p:nvSpPr>
          <p:cNvPr id="24" name="Text 22"/>
          <p:cNvSpPr txBox="1"/>
          <p:nvPr/>
        </p:nvSpPr>
        <p:spPr>
          <a:xfrm>
            <a:off x="6358738"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FY 2026 IPPS operating and capital, transfers, outliers</a:t>
            </a:r>
            <a:endParaRPr lang="en-US" sz="1400" dirty="0"/>
          </a:p>
        </p:txBody>
      </p:sp>
      <p:sp>
        <p:nvSpPr>
          <p:cNvPr id="25" name="step 5"/>
          <p:cNvSpPr/>
          <p:nvPr/>
        </p:nvSpPr>
        <p:spPr>
          <a:xfrm>
            <a:off x="8075981"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6" name="step number 5"/>
          <p:cNvSpPr/>
          <p:nvPr/>
        </p:nvSpPr>
        <p:spPr>
          <a:xfrm>
            <a:off x="8240573" y="1801368"/>
            <a:ext cx="502920" cy="502920"/>
          </a:xfrm>
          <a:prstGeom prst="ellipse">
            <a:avLst/>
          </a:prstGeom>
          <a:solidFill>
            <a:schemeClr val="accent1"/>
          </a:solidFill>
          <a:ln w="6350">
            <a:solidFill>
              <a:schemeClr val="accent1"/>
            </a:solidFill>
            <a:prstDash val="solid"/>
          </a:ln>
        </p:spPr>
      </p:sp>
      <p:sp>
        <p:nvSpPr>
          <p:cNvPr id="27" name="Text 25"/>
          <p:cNvSpPr txBox="1"/>
          <p:nvPr/>
        </p:nvSpPr>
        <p:spPr>
          <a:xfrm>
            <a:off x="8240573"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8" name="Text 26"/>
          <p:cNvSpPr txBox="1"/>
          <p:nvPr/>
        </p:nvSpPr>
        <p:spPr>
          <a:xfrm>
            <a:off x="8240573"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Test each finding</a:t>
            </a:r>
            <a:endParaRPr lang="en-US" sz="1600" dirty="0"/>
          </a:p>
        </p:txBody>
      </p:sp>
      <p:sp>
        <p:nvSpPr>
          <p:cNvPr id="29" name="Text 27"/>
          <p:cNvSpPr txBox="1"/>
          <p:nvPr/>
        </p:nvSpPr>
        <p:spPr>
          <a:xfrm>
            <a:off x="8240573"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Apply its correction, regroup, reprice: does payment drop?</a:t>
            </a:r>
            <a:endParaRPr lang="en-US" sz="1400" dirty="0"/>
          </a:p>
        </p:txBody>
      </p:sp>
      <p:sp>
        <p:nvSpPr>
          <p:cNvPr id="30" name="step 6"/>
          <p:cNvSpPr/>
          <p:nvPr/>
        </p:nvSpPr>
        <p:spPr>
          <a:xfrm>
            <a:off x="9957816" y="1600200"/>
            <a:ext cx="1664208" cy="2971800"/>
          </a:xfrm>
          <a:prstGeom prst="roundRect">
            <a:avLst>
              <a:gd name="adj" fmla="val 4396"/>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31" name="step number 6"/>
          <p:cNvSpPr/>
          <p:nvPr/>
        </p:nvSpPr>
        <p:spPr>
          <a:xfrm>
            <a:off x="10122408" y="1801368"/>
            <a:ext cx="502920" cy="502920"/>
          </a:xfrm>
          <a:prstGeom prst="ellipse">
            <a:avLst/>
          </a:prstGeom>
          <a:solidFill>
            <a:schemeClr val="accent2"/>
          </a:solidFill>
          <a:ln w="6350">
            <a:solidFill>
              <a:schemeClr val="accent2"/>
            </a:solidFill>
            <a:prstDash val="solid"/>
          </a:ln>
        </p:spPr>
      </p:sp>
      <p:sp>
        <p:nvSpPr>
          <p:cNvPr id="32" name="Text 30"/>
          <p:cNvSpPr txBox="1"/>
          <p:nvPr/>
        </p:nvSpPr>
        <p:spPr>
          <a:xfrm>
            <a:off x="10122408" y="180136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3" name="Text 31"/>
          <p:cNvSpPr txBox="1"/>
          <p:nvPr/>
        </p:nvSpPr>
        <p:spPr>
          <a:xfrm>
            <a:off x="10122408" y="2468880"/>
            <a:ext cx="1389888" cy="566928"/>
          </a:xfrm>
          <a:prstGeom prst="rect">
            <a:avLst/>
          </a:prstGeom>
          <a:noFill/>
          <a:ln/>
        </p:spPr>
        <p:txBody>
          <a:bodyPr wrap="square" lIns="0" tIns="0" rIns="0" bIns="0" rtlCol="0" anchor="t"/>
          <a:lstStyle/>
          <a:p>
            <a:pPr indent="0" marL="0">
              <a:buNone/>
            </a:pPr>
            <a:r>
              <a:rPr lang="en-US" sz="1600" b="1" dirty="0">
                <a:solidFill>
                  <a:schemeClr val="tx1"/>
                </a:solidFill>
              </a:rPr>
              <a:t>Score and explain</a:t>
            </a:r>
            <a:endParaRPr lang="en-US" sz="1600" dirty="0"/>
          </a:p>
        </p:txBody>
      </p:sp>
      <p:sp>
        <p:nvSpPr>
          <p:cNvPr id="34" name="Text 32"/>
          <p:cNvSpPr txBox="1"/>
          <p:nvPr/>
        </p:nvSpPr>
        <p:spPr>
          <a:xfrm>
            <a:off x="10122408" y="3063240"/>
            <a:ext cx="1389888" cy="1417320"/>
          </a:xfrm>
          <a:prstGeom prst="rect">
            <a:avLst/>
          </a:prstGeom>
          <a:noFill/>
          <a:ln/>
        </p:spPr>
        <p:txBody>
          <a:bodyPr wrap="square" lIns="0" tIns="0" rIns="0" bIns="0" rtlCol="0" anchor="t"/>
          <a:lstStyle/>
          <a:p>
            <a:pPr indent="0" marL="0">
              <a:buNone/>
            </a:pPr>
            <a:r>
              <a:rPr lang="en-US" sz="1400" dirty="0">
                <a:solidFill>
                  <a:schemeClr val="tx2"/>
                </a:solidFill>
              </a:rPr>
              <a:t>Score, expected recovery, title, explanation, Excel export</a:t>
            </a:r>
            <a:endParaRPr lang="en-US" sz="1400" dirty="0"/>
          </a:p>
        </p:txBody>
      </p:sp>
      <p:sp>
        <p:nvSpPr>
          <p:cNvPr id="35" name="Text 33"/>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1600" dirty="0">
                <a:solidFill>
                  <a:schemeClr val="tx1"/>
                </a:solidFill>
              </a:rPr>
              <a:t>Only findings that lower the payment add to the score. The rest are still reported, as coding-accuracy issues.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486 guideline rules, ranked into four tiers</a:t>
            </a:r>
            <a:endParaRPr lang="en-US" sz="3600" dirty="0"/>
          </a:p>
        </p:txBody>
      </p:sp>
      <p:sp>
        <p:nvSpPr>
          <p:cNvPr id="3" name="Tier 1"/>
          <p:cNvSpPr/>
          <p:nvPr/>
        </p:nvSpPr>
        <p:spPr>
          <a:xfrm>
            <a:off x="548640" y="1463040"/>
            <a:ext cx="6035040" cy="932688"/>
          </a:xfrm>
          <a:prstGeom prst="roundRect">
            <a:avLst>
              <a:gd name="adj" fmla="val 7843"/>
            </a:avLst>
          </a:prstGeom>
          <a:solidFill>
            <a:schemeClr val="accent1"/>
          </a:solidFill>
          <a:ln w="6350">
            <a:solidFill>
              <a:schemeClr val="accent1"/>
            </a:solidFill>
            <a:prstDash val="solid"/>
          </a:ln>
        </p:spPr>
      </p:sp>
      <p:sp>
        <p:nvSpPr>
          <p:cNvPr id="4" name="Text 2"/>
          <p:cNvSpPr txBox="1"/>
          <p:nvPr/>
        </p:nvSpPr>
        <p:spPr>
          <a:xfrm>
            <a:off x="749808" y="1591056"/>
            <a:ext cx="1737360" cy="384048"/>
          </a:xfrm>
          <a:prstGeom prst="rect">
            <a:avLst/>
          </a:prstGeom>
          <a:noFill/>
          <a:ln/>
        </p:spPr>
        <p:txBody>
          <a:bodyPr wrap="square" lIns="0" tIns="0" rIns="0" bIns="0" rtlCol="0" anchor="t"/>
          <a:lstStyle/>
          <a:p>
            <a:pPr indent="0" marL="0">
              <a:buNone/>
            </a:pPr>
            <a:r>
              <a:rPr lang="en-US" sz="2000" b="1" dirty="0">
                <a:solidFill>
                  <a:schemeClr val="bg1"/>
                </a:solidFill>
              </a:rPr>
              <a:t>Tier 1</a:t>
            </a:r>
            <a:endParaRPr lang="en-US" sz="2000" dirty="0"/>
          </a:p>
        </p:txBody>
      </p:sp>
      <p:sp>
        <p:nvSpPr>
          <p:cNvPr id="5" name="Text 3"/>
          <p:cNvSpPr txBox="1"/>
          <p:nvPr/>
        </p:nvSpPr>
        <p:spPr>
          <a:xfrm>
            <a:off x="749808" y="1975104"/>
            <a:ext cx="1737360" cy="329184"/>
          </a:xfrm>
          <a:prstGeom prst="rect">
            <a:avLst/>
          </a:prstGeom>
          <a:noFill/>
          <a:ln/>
        </p:spPr>
        <p:txBody>
          <a:bodyPr wrap="square" lIns="0" tIns="0" rIns="0" bIns="0" rtlCol="0" anchor="t"/>
          <a:lstStyle/>
          <a:p>
            <a:pPr indent="0" marL="0">
              <a:buNone/>
            </a:pPr>
            <a:r>
              <a:rPr lang="en-US" sz="1200" dirty="0">
                <a:solidFill>
                  <a:schemeClr val="bg1"/>
                </a:solidFill>
              </a:rPr>
              <a:t>73 rules · top 15%</a:t>
            </a:r>
            <a:endParaRPr lang="en-US" sz="1200" dirty="0"/>
          </a:p>
        </p:txBody>
      </p:sp>
      <p:sp>
        <p:nvSpPr>
          <p:cNvPr id="6" name="Text 4"/>
          <p:cNvSpPr txBox="1"/>
          <p:nvPr/>
        </p:nvSpPr>
        <p:spPr>
          <a:xfrm>
            <a:off x="2606040" y="1463040"/>
            <a:ext cx="3794760" cy="932688"/>
          </a:xfrm>
          <a:prstGeom prst="rect">
            <a:avLst/>
          </a:prstGeom>
          <a:noFill/>
          <a:ln/>
        </p:spPr>
        <p:txBody>
          <a:bodyPr wrap="square" lIns="0" tIns="0" rIns="0" bIns="0" rtlCol="0" anchor="ctr"/>
          <a:lstStyle/>
          <a:p>
            <a:pPr indent="0" marL="0">
              <a:buNone/>
            </a:pPr>
            <a:r>
              <a:rPr lang="en-US" sz="1400" dirty="0">
                <a:solidFill>
                  <a:schemeClr val="bg1"/>
                </a:solidFill>
              </a:rPr>
              <a:t>Sepsis sequencing (I.C.1.d.3), septic shock, symptom codes as principal (II.A)</a:t>
            </a:r>
            <a:endParaRPr lang="en-US" sz="1400" dirty="0"/>
          </a:p>
        </p:txBody>
      </p:sp>
      <p:sp>
        <p:nvSpPr>
          <p:cNvPr id="7" name="Tier 2"/>
          <p:cNvSpPr/>
          <p:nvPr/>
        </p:nvSpPr>
        <p:spPr>
          <a:xfrm>
            <a:off x="548640" y="2578608"/>
            <a:ext cx="6035040" cy="932688"/>
          </a:xfrm>
          <a:prstGeom prst="roundRect">
            <a:avLst>
              <a:gd name="adj" fmla="val 7843"/>
            </a:avLst>
          </a:prstGeom>
          <a:solidFill>
            <a:schemeClr val="accent2"/>
          </a:solidFill>
          <a:ln w="6350">
            <a:solidFill>
              <a:schemeClr val="accent2"/>
            </a:solidFill>
            <a:prstDash val="solid"/>
          </a:ln>
        </p:spPr>
      </p:sp>
      <p:sp>
        <p:nvSpPr>
          <p:cNvPr id="8" name="Text 6"/>
          <p:cNvSpPr txBox="1"/>
          <p:nvPr/>
        </p:nvSpPr>
        <p:spPr>
          <a:xfrm>
            <a:off x="749808" y="2706624"/>
            <a:ext cx="1737360" cy="384048"/>
          </a:xfrm>
          <a:prstGeom prst="rect">
            <a:avLst/>
          </a:prstGeom>
          <a:noFill/>
          <a:ln/>
        </p:spPr>
        <p:txBody>
          <a:bodyPr wrap="square" lIns="0" tIns="0" rIns="0" bIns="0" rtlCol="0" anchor="t"/>
          <a:lstStyle/>
          <a:p>
            <a:pPr indent="0" marL="0">
              <a:buNone/>
            </a:pPr>
            <a:r>
              <a:rPr lang="en-US" sz="2000" b="1" dirty="0">
                <a:solidFill>
                  <a:schemeClr val="bg1"/>
                </a:solidFill>
              </a:rPr>
              <a:t>Tier 2</a:t>
            </a:r>
            <a:endParaRPr lang="en-US" sz="2000" dirty="0"/>
          </a:p>
        </p:txBody>
      </p:sp>
      <p:sp>
        <p:nvSpPr>
          <p:cNvPr id="9" name="Text 7"/>
          <p:cNvSpPr txBox="1"/>
          <p:nvPr/>
        </p:nvSpPr>
        <p:spPr>
          <a:xfrm>
            <a:off x="749808" y="3090672"/>
            <a:ext cx="1737360" cy="329184"/>
          </a:xfrm>
          <a:prstGeom prst="rect">
            <a:avLst/>
          </a:prstGeom>
          <a:noFill/>
          <a:ln/>
        </p:spPr>
        <p:txBody>
          <a:bodyPr wrap="square" lIns="0" tIns="0" rIns="0" bIns="0" rtlCol="0" anchor="t"/>
          <a:lstStyle/>
          <a:p>
            <a:pPr indent="0" marL="0">
              <a:buNone/>
            </a:pPr>
            <a:r>
              <a:rPr lang="en-US" sz="1200" dirty="0">
                <a:solidFill>
                  <a:schemeClr val="bg1"/>
                </a:solidFill>
              </a:rPr>
              <a:t>122 rules · next 25%</a:t>
            </a:r>
            <a:endParaRPr lang="en-US" sz="1200" dirty="0"/>
          </a:p>
        </p:txBody>
      </p:sp>
      <p:sp>
        <p:nvSpPr>
          <p:cNvPr id="10" name="Text 8"/>
          <p:cNvSpPr txBox="1"/>
          <p:nvPr/>
        </p:nvSpPr>
        <p:spPr>
          <a:xfrm>
            <a:off x="2606040" y="2578608"/>
            <a:ext cx="3794760" cy="932688"/>
          </a:xfrm>
          <a:prstGeom prst="rect">
            <a:avLst/>
          </a:prstGeom>
          <a:noFill/>
          <a:ln/>
        </p:spPr>
        <p:txBody>
          <a:bodyPr wrap="square" lIns="0" tIns="0" rIns="0" bIns="0" rtlCol="0" anchor="ctr"/>
          <a:lstStyle/>
          <a:p>
            <a:pPr indent="0" marL="0">
              <a:buNone/>
            </a:pPr>
            <a:r>
              <a:rPr lang="en-US" sz="1400" dirty="0">
                <a:solidFill>
                  <a:schemeClr val="bg1"/>
                </a:solidFill>
              </a:rPr>
              <a:t>Sepsis with organ dysfunction, pressure ulcer stages (I.C.12.a)</a:t>
            </a:r>
            <a:endParaRPr lang="en-US" sz="1400" dirty="0"/>
          </a:p>
        </p:txBody>
      </p:sp>
      <p:sp>
        <p:nvSpPr>
          <p:cNvPr id="11" name="Tier 3"/>
          <p:cNvSpPr/>
          <p:nvPr/>
        </p:nvSpPr>
        <p:spPr>
          <a:xfrm>
            <a:off x="548640" y="3694176"/>
            <a:ext cx="6035040" cy="932688"/>
          </a:xfrm>
          <a:prstGeom prst="roundRect">
            <a:avLst>
              <a:gd name="adj" fmla="val 7843"/>
            </a:avLst>
          </a:prstGeom>
          <a:solidFill>
            <a:schemeClr val="accent6"/>
          </a:solidFill>
          <a:ln w="6350">
            <a:solidFill>
              <a:schemeClr val="accent6"/>
            </a:solidFill>
            <a:prstDash val="solid"/>
          </a:ln>
        </p:spPr>
      </p:sp>
      <p:sp>
        <p:nvSpPr>
          <p:cNvPr id="12" name="Text 10"/>
          <p:cNvSpPr txBox="1"/>
          <p:nvPr/>
        </p:nvSpPr>
        <p:spPr>
          <a:xfrm>
            <a:off x="749808" y="3822192"/>
            <a:ext cx="1737360" cy="384048"/>
          </a:xfrm>
          <a:prstGeom prst="rect">
            <a:avLst/>
          </a:prstGeom>
          <a:noFill/>
          <a:ln/>
        </p:spPr>
        <p:txBody>
          <a:bodyPr wrap="square" lIns="0" tIns="0" rIns="0" bIns="0" rtlCol="0" anchor="t"/>
          <a:lstStyle/>
          <a:p>
            <a:pPr indent="0" marL="0">
              <a:buNone/>
            </a:pPr>
            <a:r>
              <a:rPr lang="en-US" sz="2000" b="1" dirty="0">
                <a:solidFill>
                  <a:schemeClr val="tx1"/>
                </a:solidFill>
              </a:rPr>
              <a:t>Tier 3</a:t>
            </a:r>
            <a:endParaRPr lang="en-US" sz="2000" dirty="0"/>
          </a:p>
        </p:txBody>
      </p:sp>
      <p:sp>
        <p:nvSpPr>
          <p:cNvPr id="13" name="Text 11"/>
          <p:cNvSpPr txBox="1"/>
          <p:nvPr/>
        </p:nvSpPr>
        <p:spPr>
          <a:xfrm>
            <a:off x="749808" y="4206240"/>
            <a:ext cx="1737360" cy="329184"/>
          </a:xfrm>
          <a:prstGeom prst="rect">
            <a:avLst/>
          </a:prstGeom>
          <a:noFill/>
          <a:ln/>
        </p:spPr>
        <p:txBody>
          <a:bodyPr wrap="square" lIns="0" tIns="0" rIns="0" bIns="0" rtlCol="0" anchor="t"/>
          <a:lstStyle/>
          <a:p>
            <a:pPr indent="0" marL="0">
              <a:buNone/>
            </a:pPr>
            <a:r>
              <a:rPr lang="en-US" sz="1200" dirty="0">
                <a:solidFill>
                  <a:schemeClr val="tx1"/>
                </a:solidFill>
              </a:rPr>
              <a:t>146 rules · next 30%</a:t>
            </a:r>
            <a:endParaRPr lang="en-US" sz="1200" dirty="0"/>
          </a:p>
        </p:txBody>
      </p:sp>
      <p:sp>
        <p:nvSpPr>
          <p:cNvPr id="14" name="Text 12"/>
          <p:cNvSpPr txBox="1"/>
          <p:nvPr/>
        </p:nvSpPr>
        <p:spPr>
          <a:xfrm>
            <a:off x="2606040" y="3694176"/>
            <a:ext cx="3794760" cy="932688"/>
          </a:xfrm>
          <a:prstGeom prst="rect">
            <a:avLst/>
          </a:prstGeom>
          <a:noFill/>
          <a:ln/>
        </p:spPr>
        <p:txBody>
          <a:bodyPr wrap="square" lIns="0" tIns="0" rIns="0" bIns="0" rtlCol="0" anchor="ctr"/>
          <a:lstStyle/>
          <a:p>
            <a:pPr indent="0" marL="0">
              <a:buNone/>
            </a:pPr>
            <a:r>
              <a:rPr lang="en-US" sz="1400" dirty="0">
                <a:solidFill>
                  <a:schemeClr val="tx1"/>
                </a:solidFill>
              </a:rPr>
              <a:t>Burn sequencing, admission from outpatient surgery (II.J)</a:t>
            </a:r>
            <a:endParaRPr lang="en-US" sz="1400" dirty="0"/>
          </a:p>
        </p:txBody>
      </p:sp>
      <p:sp>
        <p:nvSpPr>
          <p:cNvPr id="15" name="Tier 4"/>
          <p:cNvSpPr/>
          <p:nvPr/>
        </p:nvSpPr>
        <p:spPr>
          <a:xfrm>
            <a:off x="548640" y="4809744"/>
            <a:ext cx="6035040" cy="932688"/>
          </a:xfrm>
          <a:prstGeom prst="roundRect">
            <a:avLst>
              <a:gd name="adj" fmla="val 7843"/>
            </a:avLst>
          </a:prstGeom>
          <a:solidFill>
            <a:schemeClr val="bg2"/>
          </a:solidFill>
          <a:ln w="6350">
            <a:solidFill>
              <a:schemeClr val="bg2"/>
            </a:solidFill>
            <a:prstDash val="solid"/>
          </a:ln>
        </p:spPr>
      </p:sp>
      <p:sp>
        <p:nvSpPr>
          <p:cNvPr id="16" name="Text 14"/>
          <p:cNvSpPr txBox="1"/>
          <p:nvPr/>
        </p:nvSpPr>
        <p:spPr>
          <a:xfrm>
            <a:off x="749808" y="4937760"/>
            <a:ext cx="1737360" cy="384048"/>
          </a:xfrm>
          <a:prstGeom prst="rect">
            <a:avLst/>
          </a:prstGeom>
          <a:noFill/>
          <a:ln/>
        </p:spPr>
        <p:txBody>
          <a:bodyPr wrap="square" lIns="0" tIns="0" rIns="0" bIns="0" rtlCol="0" anchor="t"/>
          <a:lstStyle/>
          <a:p>
            <a:pPr indent="0" marL="0">
              <a:buNone/>
            </a:pPr>
            <a:r>
              <a:rPr lang="en-US" sz="2000" b="1" dirty="0">
                <a:solidFill>
                  <a:schemeClr val="tx1"/>
                </a:solidFill>
              </a:rPr>
              <a:t>Tier 4</a:t>
            </a:r>
            <a:endParaRPr lang="en-US" sz="2000" dirty="0"/>
          </a:p>
        </p:txBody>
      </p:sp>
      <p:sp>
        <p:nvSpPr>
          <p:cNvPr id="17" name="Text 15"/>
          <p:cNvSpPr txBox="1"/>
          <p:nvPr/>
        </p:nvSpPr>
        <p:spPr>
          <a:xfrm>
            <a:off x="749808" y="5321808"/>
            <a:ext cx="1737360" cy="329184"/>
          </a:xfrm>
          <a:prstGeom prst="rect">
            <a:avLst/>
          </a:prstGeom>
          <a:noFill/>
          <a:ln/>
        </p:spPr>
        <p:txBody>
          <a:bodyPr wrap="square" lIns="0" tIns="0" rIns="0" bIns="0" rtlCol="0" anchor="t"/>
          <a:lstStyle/>
          <a:p>
            <a:pPr indent="0" marL="0">
              <a:buNone/>
            </a:pPr>
            <a:r>
              <a:rPr lang="en-US" sz="1200" dirty="0">
                <a:solidFill>
                  <a:schemeClr val="tx1"/>
                </a:solidFill>
              </a:rPr>
              <a:t>145 rules · last 30%</a:t>
            </a:r>
            <a:endParaRPr lang="en-US" sz="1200" dirty="0"/>
          </a:p>
        </p:txBody>
      </p:sp>
      <p:sp>
        <p:nvSpPr>
          <p:cNvPr id="18" name="Text 16"/>
          <p:cNvSpPr txBox="1"/>
          <p:nvPr/>
        </p:nvSpPr>
        <p:spPr>
          <a:xfrm>
            <a:off x="2606040" y="4809744"/>
            <a:ext cx="3794760" cy="932688"/>
          </a:xfrm>
          <a:prstGeom prst="rect">
            <a:avLst/>
          </a:prstGeom>
          <a:noFill/>
          <a:ln/>
        </p:spPr>
        <p:txBody>
          <a:bodyPr wrap="square" lIns="0" tIns="0" rIns="0" bIns="0" rtlCol="0" anchor="ctr"/>
          <a:lstStyle/>
          <a:p>
            <a:pPr indent="0" marL="0">
              <a:buNone/>
            </a:pPr>
            <a:r>
              <a:rPr lang="en-US" sz="1400" dirty="0">
                <a:solidFill>
                  <a:schemeClr val="tx1"/>
                </a:solidFill>
              </a:rPr>
              <a:t>Weeks of gestation, delivery outcome codes</a:t>
            </a:r>
            <a:endParaRPr lang="en-US" sz="1400" dirty="0"/>
          </a:p>
        </p:txBody>
      </p:sp>
      <p:graphicFrame>
        <p:nvGraphicFramePr>
          <p:cNvPr id="19" name="Chart 0" descr=""/>
          <p:cNvGraphicFramePr/>
          <p:nvPr/>
        </p:nvGraphicFramePr>
        <p:xfrm>
          <a:off x="7040880" y="1371600"/>
          <a:ext cx="4572000" cy="45262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Grouper and pricer match their references</a:t>
            </a:r>
            <a:endParaRPr lang="en-US" sz="3600" dirty="0"/>
          </a:p>
        </p:txBody>
      </p:sp>
      <p:sp>
        <p:nvSpPr>
          <p:cNvPr id="3" name="MS-DRG grouper"/>
          <p:cNvSpPr/>
          <p:nvPr/>
        </p:nvSpPr>
        <p:spPr>
          <a:xfrm>
            <a:off x="548640" y="1417320"/>
            <a:ext cx="5394960" cy="4206240"/>
          </a:xfrm>
          <a:prstGeom prst="roundRect">
            <a:avLst>
              <a:gd name="adj" fmla="val 1739"/>
            </a:avLst>
          </a:prstGeom>
          <a:solidFill>
            <a:schemeClr val="bg2"/>
          </a:solidFill>
          <a:ln w="6350">
            <a:solidFill>
              <a:schemeClr val="bg2"/>
            </a:solidFill>
            <a:prstDash val="solid"/>
          </a:ln>
        </p:spPr>
      </p:sp>
      <p:sp>
        <p:nvSpPr>
          <p:cNvPr id="4" name="Text 2"/>
          <p:cNvSpPr txBox="1"/>
          <p:nvPr/>
        </p:nvSpPr>
        <p:spPr>
          <a:xfrm>
            <a:off x="868680" y="16459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MS-DRG grouper</a:t>
            </a:r>
            <a:endParaRPr lang="en-US" sz="2000" dirty="0"/>
          </a:p>
        </p:txBody>
      </p:sp>
      <p:sp>
        <p:nvSpPr>
          <p:cNvPr id="5" name="Text 3"/>
          <p:cNvSpPr txBox="1"/>
          <p:nvPr/>
        </p:nvSpPr>
        <p:spPr>
          <a:xfrm>
            <a:off x="868680" y="2148840"/>
            <a:ext cx="475488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26,468</a:t>
            </a:r>
            <a:endParaRPr lang="en-US" sz="5400" dirty="0"/>
          </a:p>
        </p:txBody>
      </p:sp>
      <p:sp>
        <p:nvSpPr>
          <p:cNvPr id="6" name="Text 4"/>
          <p:cNvSpPr txBox="1"/>
          <p:nvPr/>
        </p:nvSpPr>
        <p:spPr>
          <a:xfrm>
            <a:off x="868680" y="3108960"/>
            <a:ext cx="4754880" cy="594360"/>
          </a:xfrm>
          <a:prstGeom prst="rect">
            <a:avLst/>
          </a:prstGeom>
          <a:noFill/>
          <a:ln/>
        </p:spPr>
        <p:txBody>
          <a:bodyPr wrap="square" lIns="0" tIns="0" rIns="0" bIns="0" rtlCol="0" anchor="t"/>
          <a:lstStyle/>
          <a:p>
            <a:pPr indent="0" marL="0">
              <a:buNone/>
            </a:pPr>
            <a:r>
              <a:rPr lang="en-US" sz="1600" dirty="0">
                <a:solidFill>
                  <a:schemeClr val="tx2"/>
                </a:solidFill>
              </a:rPr>
              <a:t>claims grouped exactly as drgpy v43.1 groups them</a:t>
            </a:r>
            <a:endParaRPr lang="en-US" sz="1600" dirty="0"/>
          </a:p>
        </p:txBody>
      </p:sp>
      <p:sp>
        <p:nvSpPr>
          <p:cNvPr id="7" name="Text 5"/>
          <p:cNvSpPr txBox="1"/>
          <p:nvPr/>
        </p:nvSpPr>
        <p:spPr>
          <a:xfrm>
            <a:off x="868680" y="3840480"/>
            <a:ext cx="4754880" cy="16459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chemeClr val="tx1"/>
                </a:solidFill>
              </a:rPr>
              <a:t>687 of 772 DRGs reached in testing</a:t>
            </a:r>
            <a:endParaRPr lang="en-US" sz="1600" dirty="0"/>
          </a:p>
          <a:p>
            <a:pPr marL="228600" indent="-228600">
              <a:spcAft>
                <a:spcPts val="1200"/>
              </a:spcAft>
              <a:buSzPct val="100000"/>
              <a:buChar char="•"/>
            </a:pPr>
            <a:r>
              <a:rPr lang="en-US" sz="1600" dirty="0">
                <a:solidFill>
                  <a:schemeClr val="tx1"/>
                </a:solidFill>
              </a:rPr>
              <a:t>Uses diagnoses, procedures, sex and discharge status</a:t>
            </a:r>
            <a:endParaRPr lang="en-US" sz="1600" dirty="0"/>
          </a:p>
          <a:p>
            <a:pPr marL="228600" indent="-228600">
              <a:spcAft>
                <a:spcPts val="1200"/>
              </a:spcAft>
              <a:buSzPct val="100000"/>
              <a:buChar char="•"/>
            </a:pPr>
            <a:r>
              <a:rPr lang="en-US" sz="1600" dirty="0">
                <a:solidFill>
                  <a:schemeClr val="tx1"/>
                </a:solidFill>
              </a:rPr>
              <a:t>About 0.06 ms per claim</a:t>
            </a:r>
            <a:endParaRPr lang="en-US" sz="1600" dirty="0"/>
          </a:p>
        </p:txBody>
      </p:sp>
      <p:sp>
        <p:nvSpPr>
          <p:cNvPr id="8" name="FY 2026 IPPS pricer"/>
          <p:cNvSpPr/>
          <p:nvPr/>
        </p:nvSpPr>
        <p:spPr>
          <a:xfrm>
            <a:off x="6217920" y="1417320"/>
            <a:ext cx="5394960" cy="4206240"/>
          </a:xfrm>
          <a:prstGeom prst="roundRect">
            <a:avLst>
              <a:gd name="adj" fmla="val 1739"/>
            </a:avLst>
          </a:prstGeom>
          <a:solidFill>
            <a:schemeClr val="bg2"/>
          </a:solidFill>
          <a:ln w="6350">
            <a:solidFill>
              <a:schemeClr val="bg2"/>
            </a:solidFill>
            <a:prstDash val="solid"/>
          </a:ln>
        </p:spPr>
      </p:sp>
      <p:sp>
        <p:nvSpPr>
          <p:cNvPr id="9" name="Text 7"/>
          <p:cNvSpPr txBox="1"/>
          <p:nvPr/>
        </p:nvSpPr>
        <p:spPr>
          <a:xfrm>
            <a:off x="6537960" y="16459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FY 2026 IPPS pricer</a:t>
            </a:r>
            <a:endParaRPr lang="en-US" sz="2000" dirty="0"/>
          </a:p>
        </p:txBody>
      </p:sp>
      <p:sp>
        <p:nvSpPr>
          <p:cNvPr id="10" name="Text 8"/>
          <p:cNvSpPr txBox="1"/>
          <p:nvPr/>
        </p:nvSpPr>
        <p:spPr>
          <a:xfrm>
            <a:off x="6537960" y="2148840"/>
            <a:ext cx="4754880" cy="91440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$0.005</a:t>
            </a:r>
            <a:endParaRPr lang="en-US" sz="5400" dirty="0"/>
          </a:p>
        </p:txBody>
      </p:sp>
      <p:sp>
        <p:nvSpPr>
          <p:cNvPr id="11" name="Text 9"/>
          <p:cNvSpPr txBox="1"/>
          <p:nvPr/>
        </p:nvSpPr>
        <p:spPr>
          <a:xfrm>
            <a:off x="6537960" y="3108960"/>
            <a:ext cx="4754880" cy="594360"/>
          </a:xfrm>
          <a:prstGeom prst="rect">
            <a:avLst/>
          </a:prstGeom>
          <a:noFill/>
          <a:ln/>
        </p:spPr>
        <p:txBody>
          <a:bodyPr wrap="square" lIns="0" tIns="0" rIns="0" bIns="0" rtlCol="0" anchor="t"/>
          <a:lstStyle/>
          <a:p>
            <a:pPr indent="0" marL="0">
              <a:buNone/>
            </a:pPr>
            <a:r>
              <a:rPr lang="en-US" sz="1600" dirty="0">
                <a:solidFill>
                  <a:schemeClr val="tx2"/>
                </a:solidFill>
              </a:rPr>
              <a:t>largest difference from an independent pricer over 8,310 cases</a:t>
            </a:r>
            <a:endParaRPr lang="en-US" sz="1600" dirty="0"/>
          </a:p>
        </p:txBody>
      </p:sp>
      <p:sp>
        <p:nvSpPr>
          <p:cNvPr id="12" name="Text 10"/>
          <p:cNvSpPr txBox="1"/>
          <p:nvPr/>
        </p:nvSpPr>
        <p:spPr>
          <a:xfrm>
            <a:off x="6537960" y="3840480"/>
            <a:ext cx="4754880" cy="16459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chemeClr val="tx1"/>
                </a:solidFill>
              </a:rPr>
              <a:t>Operating and capital: wage index, COLA, IME, DSH</a:t>
            </a:r>
            <a:endParaRPr lang="en-US" sz="1600" dirty="0"/>
          </a:p>
          <a:p>
            <a:pPr marL="228600" indent="-228600">
              <a:spcAft>
                <a:spcPts val="1200"/>
              </a:spcAft>
              <a:buSzPct val="100000"/>
              <a:buChar char="•"/>
            </a:pPr>
            <a:r>
              <a:rPr lang="en-US" sz="1600" dirty="0">
                <a:solidFill>
                  <a:schemeClr val="tx1"/>
                </a:solidFill>
              </a:rPr>
              <a:t>Transfers per CMS SE1411; cost outliers</a:t>
            </a:r>
            <a:endParaRPr lang="en-US" sz="1600" dirty="0"/>
          </a:p>
          <a:p>
            <a:pPr marL="228600" indent="-228600">
              <a:spcAft>
                <a:spcPts val="1200"/>
              </a:spcAft>
              <a:buSzPct val="100000"/>
              <a:buChar char="•"/>
            </a:pPr>
            <a:r>
              <a:rPr lang="en-US" sz="1600" dirty="0">
                <a:solidFill>
                  <a:schemeClr val="tx1"/>
                </a:solidFill>
              </a:rPr>
              <a:t>Table 5 weights with the 10% cap</a:t>
            </a:r>
            <a:endParaRPr lang="en-US" sz="1600" dirty="0"/>
          </a:p>
        </p:txBody>
      </p:sp>
      <p:sp>
        <p:nvSpPr>
          <p:cNvPr id="13" name="Text 11"/>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600" dirty="0">
                <a:solidFill>
                  <a:schemeClr val="tx1"/>
                </a:solidFill>
              </a:rPr>
              <a:t>Both run inside the HTML page: scoring a claim, including every regroup and reprice, takes about 0.2 ms.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The score: chance a review ends in recovery</a:t>
            </a:r>
            <a:endParaRPr lang="en-US" sz="3600" dirty="0"/>
          </a:p>
        </p:txBody>
      </p:sp>
      <p:sp>
        <p:nvSpPr>
          <p:cNvPr id="3" name="score step 1"/>
          <p:cNvSpPr/>
          <p:nvPr/>
        </p:nvSpPr>
        <p:spPr>
          <a:xfrm>
            <a:off x="548640" y="1417320"/>
            <a:ext cx="3429000" cy="4023360"/>
          </a:xfrm>
          <a:prstGeom prst="roundRect">
            <a:avLst>
              <a:gd name="adj" fmla="val 213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 name="num"/>
          <p:cNvSpPr/>
          <p:nvPr/>
        </p:nvSpPr>
        <p:spPr>
          <a:xfrm>
            <a:off x="777240" y="1627632"/>
            <a:ext cx="457200" cy="457200"/>
          </a:xfrm>
          <a:prstGeom prst="ellipse">
            <a:avLst/>
          </a:prstGeom>
          <a:solidFill>
            <a:schemeClr val="accent2"/>
          </a:solidFill>
          <a:ln w="6350">
            <a:solidFill>
              <a:schemeClr val="accent2"/>
            </a:solidFill>
            <a:prstDash val="solid"/>
          </a:ln>
        </p:spPr>
      </p:sp>
      <p:sp>
        <p:nvSpPr>
          <p:cNvPr id="5" name="Text 3"/>
          <p:cNvSpPr txBox="1"/>
          <p:nvPr/>
        </p:nvSpPr>
        <p:spPr>
          <a:xfrm>
            <a:off x="777240" y="1627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371600" y="1572768"/>
            <a:ext cx="2423160" cy="594360"/>
          </a:xfrm>
          <a:prstGeom prst="rect">
            <a:avLst/>
          </a:prstGeom>
          <a:noFill/>
          <a:ln/>
        </p:spPr>
        <p:txBody>
          <a:bodyPr wrap="square" lIns="0" tIns="0" rIns="0" bIns="0" rtlCol="0" anchor="ctr"/>
          <a:lstStyle/>
          <a:p>
            <a:pPr indent="0" marL="0">
              <a:buNone/>
            </a:pPr>
            <a:r>
              <a:rPr lang="en-US" sz="1800" b="1" dirty="0">
                <a:solidFill>
                  <a:schemeClr val="tx1"/>
                </a:solidFill>
              </a:rPr>
              <a:t>Chance it is upheld</a:t>
            </a:r>
            <a:endParaRPr lang="en-US" sz="1800" dirty="0"/>
          </a:p>
        </p:txBody>
      </p:sp>
      <p:sp>
        <p:nvSpPr>
          <p:cNvPr id="7" name="row"/>
          <p:cNvSpPr/>
          <p:nvPr/>
        </p:nvSpPr>
        <p:spPr>
          <a:xfrm>
            <a:off x="777240" y="2423160"/>
            <a:ext cx="2971800" cy="457200"/>
          </a:xfrm>
          <a:prstGeom prst="roundRect">
            <a:avLst>
              <a:gd name="adj" fmla="val 12000"/>
            </a:avLst>
          </a:prstGeom>
          <a:solidFill>
            <a:schemeClr val="bg2"/>
          </a:solidFill>
          <a:ln w="6350">
            <a:solidFill>
              <a:schemeClr val="bg2"/>
            </a:solidFill>
            <a:prstDash val="solid"/>
          </a:ln>
        </p:spPr>
      </p:sp>
      <p:sp>
        <p:nvSpPr>
          <p:cNvPr id="8" name="Text 6"/>
          <p:cNvSpPr txBox="1"/>
          <p:nvPr/>
        </p:nvSpPr>
        <p:spPr>
          <a:xfrm>
            <a:off x="914400" y="2423160"/>
            <a:ext cx="1965960" cy="457200"/>
          </a:xfrm>
          <a:prstGeom prst="rect">
            <a:avLst/>
          </a:prstGeom>
          <a:noFill/>
          <a:ln/>
        </p:spPr>
        <p:txBody>
          <a:bodyPr wrap="square" lIns="0" tIns="0" rIns="0" bIns="0" rtlCol="0" anchor="ctr"/>
          <a:lstStyle/>
          <a:p>
            <a:pPr indent="0" marL="0">
              <a:buNone/>
            </a:pPr>
            <a:r>
              <a:rPr lang="en-US" sz="1400" dirty="0">
                <a:solidFill>
                  <a:schemeClr val="tx1"/>
                </a:solidFill>
              </a:rPr>
              <a:t>Likely guideline error</a:t>
            </a:r>
            <a:endParaRPr lang="en-US" sz="1400" dirty="0"/>
          </a:p>
        </p:txBody>
      </p:sp>
      <p:sp>
        <p:nvSpPr>
          <p:cNvPr id="9" name="Text 7"/>
          <p:cNvSpPr txBox="1"/>
          <p:nvPr/>
        </p:nvSpPr>
        <p:spPr>
          <a:xfrm>
            <a:off x="2834640" y="2423160"/>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55%</a:t>
            </a:r>
            <a:endParaRPr lang="en-US" sz="1600" dirty="0"/>
          </a:p>
        </p:txBody>
      </p:sp>
      <p:sp>
        <p:nvSpPr>
          <p:cNvPr id="10" name="row"/>
          <p:cNvSpPr/>
          <p:nvPr/>
        </p:nvSpPr>
        <p:spPr>
          <a:xfrm>
            <a:off x="777240" y="2990088"/>
            <a:ext cx="2971800" cy="457200"/>
          </a:xfrm>
          <a:prstGeom prst="roundRect">
            <a:avLst>
              <a:gd name="adj" fmla="val 12000"/>
            </a:avLst>
          </a:prstGeom>
          <a:solidFill>
            <a:schemeClr val="bg2"/>
          </a:solidFill>
          <a:ln w="6350">
            <a:solidFill>
              <a:schemeClr val="bg2"/>
            </a:solidFill>
            <a:prstDash val="solid"/>
          </a:ln>
        </p:spPr>
      </p:sp>
      <p:sp>
        <p:nvSpPr>
          <p:cNvPr id="11" name="Text 9"/>
          <p:cNvSpPr txBox="1"/>
          <p:nvPr/>
        </p:nvSpPr>
        <p:spPr>
          <a:xfrm>
            <a:off x="914400" y="2990088"/>
            <a:ext cx="1965960" cy="457200"/>
          </a:xfrm>
          <a:prstGeom prst="rect">
            <a:avLst/>
          </a:prstGeom>
          <a:noFill/>
          <a:ln/>
        </p:spPr>
        <p:txBody>
          <a:bodyPr wrap="square" lIns="0" tIns="0" rIns="0" bIns="0" rtlCol="0" anchor="ctr"/>
          <a:lstStyle/>
          <a:p>
            <a:pPr indent="0" marL="0">
              <a:buNone/>
            </a:pPr>
            <a:r>
              <a:rPr lang="en-US" sz="1400" dirty="0">
                <a:solidFill>
                  <a:schemeClr val="tx1"/>
                </a:solidFill>
              </a:rPr>
              <a:t>Needs coding review</a:t>
            </a:r>
            <a:endParaRPr lang="en-US" sz="1400" dirty="0"/>
          </a:p>
        </p:txBody>
      </p:sp>
      <p:sp>
        <p:nvSpPr>
          <p:cNvPr id="12" name="Text 10"/>
          <p:cNvSpPr txBox="1"/>
          <p:nvPr/>
        </p:nvSpPr>
        <p:spPr>
          <a:xfrm>
            <a:off x="2834640" y="2990088"/>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30%</a:t>
            </a:r>
            <a:endParaRPr lang="en-US" sz="1600" dirty="0"/>
          </a:p>
        </p:txBody>
      </p:sp>
      <p:sp>
        <p:nvSpPr>
          <p:cNvPr id="13" name="row"/>
          <p:cNvSpPr/>
          <p:nvPr/>
        </p:nvSpPr>
        <p:spPr>
          <a:xfrm>
            <a:off x="777240" y="3557016"/>
            <a:ext cx="2971800" cy="457200"/>
          </a:xfrm>
          <a:prstGeom prst="roundRect">
            <a:avLst>
              <a:gd name="adj" fmla="val 12000"/>
            </a:avLst>
          </a:prstGeom>
          <a:solidFill>
            <a:schemeClr val="bg2"/>
          </a:solidFill>
          <a:ln w="6350">
            <a:solidFill>
              <a:schemeClr val="bg2"/>
            </a:solidFill>
            <a:prstDash val="solid"/>
          </a:ln>
        </p:spPr>
      </p:sp>
      <p:sp>
        <p:nvSpPr>
          <p:cNvPr id="14" name="Text 12"/>
          <p:cNvSpPr txBox="1"/>
          <p:nvPr/>
        </p:nvSpPr>
        <p:spPr>
          <a:xfrm>
            <a:off x="914400" y="3557016"/>
            <a:ext cx="1965960" cy="457200"/>
          </a:xfrm>
          <a:prstGeom prst="rect">
            <a:avLst/>
          </a:prstGeom>
          <a:noFill/>
          <a:ln/>
        </p:spPr>
        <p:txBody>
          <a:bodyPr wrap="square" lIns="0" tIns="0" rIns="0" bIns="0" rtlCol="0" anchor="ctr"/>
          <a:lstStyle/>
          <a:p>
            <a:pPr indent="0" marL="0">
              <a:buNone/>
            </a:pPr>
            <a:r>
              <a:rPr lang="en-US" sz="1400" dirty="0">
                <a:solidFill>
                  <a:schemeClr val="tx1"/>
                </a:solidFill>
              </a:rPr>
              <a:t>Clinical validation target</a:t>
            </a:r>
            <a:endParaRPr lang="en-US" sz="1400" dirty="0"/>
          </a:p>
        </p:txBody>
      </p:sp>
      <p:sp>
        <p:nvSpPr>
          <p:cNvPr id="15" name="Text 13"/>
          <p:cNvSpPr txBox="1"/>
          <p:nvPr/>
        </p:nvSpPr>
        <p:spPr>
          <a:xfrm>
            <a:off x="2834640" y="3557016"/>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24%</a:t>
            </a:r>
            <a:endParaRPr lang="en-US" sz="1600" dirty="0"/>
          </a:p>
        </p:txBody>
      </p:sp>
      <p:sp>
        <p:nvSpPr>
          <p:cNvPr id="16" name="row"/>
          <p:cNvSpPr/>
          <p:nvPr/>
        </p:nvSpPr>
        <p:spPr>
          <a:xfrm>
            <a:off x="777240" y="4123944"/>
            <a:ext cx="2971800" cy="457200"/>
          </a:xfrm>
          <a:prstGeom prst="roundRect">
            <a:avLst>
              <a:gd name="adj" fmla="val 12000"/>
            </a:avLst>
          </a:prstGeom>
          <a:solidFill>
            <a:schemeClr val="bg2"/>
          </a:solidFill>
          <a:ln w="6350">
            <a:solidFill>
              <a:schemeClr val="bg2"/>
            </a:solidFill>
            <a:prstDash val="solid"/>
          </a:ln>
        </p:spPr>
      </p:sp>
      <p:sp>
        <p:nvSpPr>
          <p:cNvPr id="17" name="Text 15"/>
          <p:cNvSpPr txBox="1"/>
          <p:nvPr/>
        </p:nvSpPr>
        <p:spPr>
          <a:xfrm>
            <a:off x="914400" y="4123944"/>
            <a:ext cx="1965960" cy="457200"/>
          </a:xfrm>
          <a:prstGeom prst="rect">
            <a:avLst/>
          </a:prstGeom>
          <a:noFill/>
          <a:ln/>
        </p:spPr>
        <p:txBody>
          <a:bodyPr wrap="square" lIns="0" tIns="0" rIns="0" bIns="0" rtlCol="0" anchor="ctr"/>
          <a:lstStyle/>
          <a:p>
            <a:pPr indent="0" marL="0">
              <a:buNone/>
            </a:pPr>
            <a:r>
              <a:rPr lang="en-US" sz="1400" dirty="0">
                <a:solidFill>
                  <a:schemeClr val="tx1"/>
                </a:solidFill>
              </a:rPr>
              <a:t>Data quality</a:t>
            </a:r>
            <a:endParaRPr lang="en-US" sz="1400" dirty="0"/>
          </a:p>
        </p:txBody>
      </p:sp>
      <p:sp>
        <p:nvSpPr>
          <p:cNvPr id="18" name="Text 16"/>
          <p:cNvSpPr txBox="1"/>
          <p:nvPr/>
        </p:nvSpPr>
        <p:spPr>
          <a:xfrm>
            <a:off x="2834640" y="4123944"/>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10%</a:t>
            </a:r>
            <a:endParaRPr lang="en-US" sz="1600" dirty="0"/>
          </a:p>
        </p:txBody>
      </p:sp>
      <p:sp>
        <p:nvSpPr>
          <p:cNvPr id="19" name="Text 17"/>
          <p:cNvSpPr txBox="1"/>
          <p:nvPr/>
        </p:nvSpPr>
        <p:spPr>
          <a:xfrm>
            <a:off x="777240" y="4754880"/>
            <a:ext cx="2971800" cy="457200"/>
          </a:xfrm>
          <a:prstGeom prst="rect">
            <a:avLst/>
          </a:prstGeom>
          <a:noFill/>
          <a:ln/>
        </p:spPr>
        <p:txBody>
          <a:bodyPr wrap="square" lIns="0" tIns="0" rIns="0" bIns="0" rtlCol="0" anchor="t"/>
          <a:lstStyle/>
          <a:p>
            <a:pPr indent="0" marL="0">
              <a:buNone/>
            </a:pPr>
            <a:r>
              <a:rPr lang="en-US" sz="1400" i="1" dirty="0">
                <a:solidFill>
                  <a:schemeClr val="tx2"/>
                </a:solidFill>
              </a:rPr>
              <a:t>base rate × strength of the guideline rule</a:t>
            </a:r>
            <a:endParaRPr lang="en-US" sz="1400" dirty="0"/>
          </a:p>
        </p:txBody>
      </p:sp>
      <p:sp>
        <p:nvSpPr>
          <p:cNvPr id="20" name="score step 2"/>
          <p:cNvSpPr/>
          <p:nvPr/>
        </p:nvSpPr>
        <p:spPr>
          <a:xfrm>
            <a:off x="4370832" y="1417320"/>
            <a:ext cx="3429000" cy="4023360"/>
          </a:xfrm>
          <a:prstGeom prst="roundRect">
            <a:avLst>
              <a:gd name="adj" fmla="val 213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21" name="num"/>
          <p:cNvSpPr/>
          <p:nvPr/>
        </p:nvSpPr>
        <p:spPr>
          <a:xfrm>
            <a:off x="4599432" y="1627632"/>
            <a:ext cx="457200" cy="457200"/>
          </a:xfrm>
          <a:prstGeom prst="ellipse">
            <a:avLst/>
          </a:prstGeom>
          <a:solidFill>
            <a:schemeClr val="accent2"/>
          </a:solidFill>
          <a:ln w="6350">
            <a:solidFill>
              <a:schemeClr val="accent2"/>
            </a:solidFill>
            <a:prstDash val="solid"/>
          </a:ln>
        </p:spPr>
      </p:sp>
      <p:sp>
        <p:nvSpPr>
          <p:cNvPr id="22" name="Text 20"/>
          <p:cNvSpPr txBox="1"/>
          <p:nvPr/>
        </p:nvSpPr>
        <p:spPr>
          <a:xfrm>
            <a:off x="4599432" y="1627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3" name="Text 21"/>
          <p:cNvSpPr txBox="1"/>
          <p:nvPr/>
        </p:nvSpPr>
        <p:spPr>
          <a:xfrm>
            <a:off x="5193792" y="1572768"/>
            <a:ext cx="2423160" cy="594360"/>
          </a:xfrm>
          <a:prstGeom prst="rect">
            <a:avLst/>
          </a:prstGeom>
          <a:noFill/>
          <a:ln/>
        </p:spPr>
        <p:txBody>
          <a:bodyPr wrap="square" lIns="0" tIns="0" rIns="0" bIns="0" rtlCol="0" anchor="ctr"/>
          <a:lstStyle/>
          <a:p>
            <a:pPr indent="0" marL="0">
              <a:buNone/>
            </a:pPr>
            <a:r>
              <a:rPr lang="en-US" sz="1800" b="1" dirty="0">
                <a:solidFill>
                  <a:schemeClr val="tx1"/>
                </a:solidFill>
              </a:rPr>
              <a:t>Does fixing it lower payment?</a:t>
            </a:r>
            <a:endParaRPr lang="en-US" sz="1800" dirty="0"/>
          </a:p>
        </p:txBody>
      </p:sp>
      <p:sp>
        <p:nvSpPr>
          <p:cNvPr id="24" name="row"/>
          <p:cNvSpPr/>
          <p:nvPr/>
        </p:nvSpPr>
        <p:spPr>
          <a:xfrm>
            <a:off x="4599432" y="2423160"/>
            <a:ext cx="2971800" cy="457200"/>
          </a:xfrm>
          <a:prstGeom prst="roundRect">
            <a:avLst>
              <a:gd name="adj" fmla="val 12000"/>
            </a:avLst>
          </a:prstGeom>
          <a:solidFill>
            <a:schemeClr val="bg2"/>
          </a:solidFill>
          <a:ln w="6350">
            <a:solidFill>
              <a:schemeClr val="bg2"/>
            </a:solidFill>
            <a:prstDash val="solid"/>
          </a:ln>
        </p:spPr>
      </p:sp>
      <p:sp>
        <p:nvSpPr>
          <p:cNvPr id="25" name="Text 23"/>
          <p:cNvSpPr txBox="1"/>
          <p:nvPr/>
        </p:nvSpPr>
        <p:spPr>
          <a:xfrm>
            <a:off x="4736592" y="2423160"/>
            <a:ext cx="1965960" cy="457200"/>
          </a:xfrm>
          <a:prstGeom prst="rect">
            <a:avLst/>
          </a:prstGeom>
          <a:noFill/>
          <a:ln/>
        </p:spPr>
        <p:txBody>
          <a:bodyPr wrap="square" lIns="0" tIns="0" rIns="0" bIns="0" rtlCol="0" anchor="ctr"/>
          <a:lstStyle/>
          <a:p>
            <a:pPr indent="0" marL="0">
              <a:buNone/>
            </a:pPr>
            <a:r>
              <a:rPr lang="en-US" sz="1400" dirty="0">
                <a:solidFill>
                  <a:schemeClr val="tx1"/>
                </a:solidFill>
              </a:rPr>
              <a:t>Yes</a:t>
            </a:r>
            <a:endParaRPr lang="en-US" sz="1400" dirty="0"/>
          </a:p>
        </p:txBody>
      </p:sp>
      <p:sp>
        <p:nvSpPr>
          <p:cNvPr id="26" name="Text 24"/>
          <p:cNvSpPr txBox="1"/>
          <p:nvPr/>
        </p:nvSpPr>
        <p:spPr>
          <a:xfrm>
            <a:off x="6656832" y="2423160"/>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100%</a:t>
            </a:r>
            <a:endParaRPr lang="en-US" sz="1600" dirty="0"/>
          </a:p>
        </p:txBody>
      </p:sp>
      <p:sp>
        <p:nvSpPr>
          <p:cNvPr id="27" name="row"/>
          <p:cNvSpPr/>
          <p:nvPr/>
        </p:nvSpPr>
        <p:spPr>
          <a:xfrm>
            <a:off x="4599432" y="2990088"/>
            <a:ext cx="2971800" cy="457200"/>
          </a:xfrm>
          <a:prstGeom prst="roundRect">
            <a:avLst>
              <a:gd name="adj" fmla="val 12000"/>
            </a:avLst>
          </a:prstGeom>
          <a:solidFill>
            <a:schemeClr val="bg2"/>
          </a:solidFill>
          <a:ln w="6350">
            <a:solidFill>
              <a:schemeClr val="bg2"/>
            </a:solidFill>
            <a:prstDash val="solid"/>
          </a:ln>
        </p:spPr>
      </p:sp>
      <p:sp>
        <p:nvSpPr>
          <p:cNvPr id="28" name="Text 26"/>
          <p:cNvSpPr txBox="1"/>
          <p:nvPr/>
        </p:nvSpPr>
        <p:spPr>
          <a:xfrm>
            <a:off x="4736592" y="2990088"/>
            <a:ext cx="1965960" cy="457200"/>
          </a:xfrm>
          <a:prstGeom prst="rect">
            <a:avLst/>
          </a:prstGeom>
          <a:noFill/>
          <a:ln/>
        </p:spPr>
        <p:txBody>
          <a:bodyPr wrap="square" lIns="0" tIns="0" rIns="0" bIns="0" rtlCol="0" anchor="ctr"/>
          <a:lstStyle/>
          <a:p>
            <a:pPr indent="0" marL="0">
              <a:buNone/>
            </a:pPr>
            <a:r>
              <a:rPr lang="en-US" sz="1400" dirty="0">
                <a:solidFill>
                  <a:schemeClr val="tx1"/>
                </a:solidFill>
              </a:rPr>
              <a:t>No change, or raises payment</a:t>
            </a:r>
            <a:endParaRPr lang="en-US" sz="1400" dirty="0"/>
          </a:p>
        </p:txBody>
      </p:sp>
      <p:sp>
        <p:nvSpPr>
          <p:cNvPr id="29" name="Text 27"/>
          <p:cNvSpPr txBox="1"/>
          <p:nvPr/>
        </p:nvSpPr>
        <p:spPr>
          <a:xfrm>
            <a:off x="6656832" y="2990088"/>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0%</a:t>
            </a:r>
            <a:endParaRPr lang="en-US" sz="1600" dirty="0"/>
          </a:p>
        </p:txBody>
      </p:sp>
      <p:sp>
        <p:nvSpPr>
          <p:cNvPr id="30" name="row"/>
          <p:cNvSpPr/>
          <p:nvPr/>
        </p:nvSpPr>
        <p:spPr>
          <a:xfrm>
            <a:off x="4599432" y="3557016"/>
            <a:ext cx="2971800" cy="457200"/>
          </a:xfrm>
          <a:prstGeom prst="roundRect">
            <a:avLst>
              <a:gd name="adj" fmla="val 12000"/>
            </a:avLst>
          </a:prstGeom>
          <a:solidFill>
            <a:schemeClr val="bg2"/>
          </a:solidFill>
          <a:ln w="6350">
            <a:solidFill>
              <a:schemeClr val="bg2"/>
            </a:solidFill>
            <a:prstDash val="solid"/>
          </a:ln>
        </p:spPr>
      </p:sp>
      <p:sp>
        <p:nvSpPr>
          <p:cNvPr id="31" name="Text 29"/>
          <p:cNvSpPr txBox="1"/>
          <p:nvPr/>
        </p:nvSpPr>
        <p:spPr>
          <a:xfrm>
            <a:off x="4736592" y="3557016"/>
            <a:ext cx="1965960" cy="457200"/>
          </a:xfrm>
          <a:prstGeom prst="rect">
            <a:avLst/>
          </a:prstGeom>
          <a:noFill/>
          <a:ln/>
        </p:spPr>
        <p:txBody>
          <a:bodyPr wrap="square" lIns="0" tIns="0" rIns="0" bIns="0" rtlCol="0" anchor="ctr"/>
          <a:lstStyle/>
          <a:p>
            <a:pPr indent="0" marL="0">
              <a:buNone/>
            </a:pPr>
            <a:r>
              <a:rPr lang="en-US" sz="1400" dirty="0">
                <a:solidFill>
                  <a:schemeClr val="tx1"/>
                </a:solidFill>
              </a:rPr>
              <a:t>Cannot be simulated</a:t>
            </a:r>
            <a:endParaRPr lang="en-US" sz="1400" dirty="0"/>
          </a:p>
        </p:txBody>
      </p:sp>
      <p:sp>
        <p:nvSpPr>
          <p:cNvPr id="32" name="Text 30"/>
          <p:cNvSpPr txBox="1"/>
          <p:nvPr/>
        </p:nvSpPr>
        <p:spPr>
          <a:xfrm>
            <a:off x="6656832" y="3557016"/>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35%</a:t>
            </a:r>
            <a:endParaRPr lang="en-US" sz="1600" dirty="0"/>
          </a:p>
        </p:txBody>
      </p:sp>
      <p:sp>
        <p:nvSpPr>
          <p:cNvPr id="33" name="row"/>
          <p:cNvSpPr/>
          <p:nvPr/>
        </p:nvSpPr>
        <p:spPr>
          <a:xfrm>
            <a:off x="4599432" y="4123944"/>
            <a:ext cx="2971800" cy="457200"/>
          </a:xfrm>
          <a:prstGeom prst="roundRect">
            <a:avLst>
              <a:gd name="adj" fmla="val 12000"/>
            </a:avLst>
          </a:prstGeom>
          <a:solidFill>
            <a:schemeClr val="bg2"/>
          </a:solidFill>
          <a:ln w="6350">
            <a:solidFill>
              <a:schemeClr val="bg2"/>
            </a:solidFill>
            <a:prstDash val="solid"/>
          </a:ln>
        </p:spPr>
      </p:sp>
      <p:sp>
        <p:nvSpPr>
          <p:cNvPr id="34" name="Text 32"/>
          <p:cNvSpPr txBox="1"/>
          <p:nvPr/>
        </p:nvSpPr>
        <p:spPr>
          <a:xfrm>
            <a:off x="4736592" y="4123944"/>
            <a:ext cx="1965960" cy="457200"/>
          </a:xfrm>
          <a:prstGeom prst="rect">
            <a:avLst/>
          </a:prstGeom>
          <a:noFill/>
          <a:ln/>
        </p:spPr>
        <p:txBody>
          <a:bodyPr wrap="square" lIns="0" tIns="0" rIns="0" bIns="0" rtlCol="0" anchor="ctr"/>
          <a:lstStyle/>
          <a:p>
            <a:pPr indent="0" marL="0">
              <a:buNone/>
            </a:pPr>
            <a:r>
              <a:rPr lang="en-US" sz="1400" dirty="0">
                <a:solidFill>
                  <a:schemeClr val="tx1"/>
                </a:solidFill>
              </a:rPr>
              <a:t>Outpatient claim</a:t>
            </a:r>
            <a:endParaRPr lang="en-US" sz="1400" dirty="0"/>
          </a:p>
        </p:txBody>
      </p:sp>
      <p:sp>
        <p:nvSpPr>
          <p:cNvPr id="35" name="Text 33"/>
          <p:cNvSpPr txBox="1"/>
          <p:nvPr/>
        </p:nvSpPr>
        <p:spPr>
          <a:xfrm>
            <a:off x="6656832" y="4123944"/>
            <a:ext cx="777240" cy="457200"/>
          </a:xfrm>
          <a:prstGeom prst="rect">
            <a:avLst/>
          </a:prstGeom>
          <a:noFill/>
          <a:ln/>
        </p:spPr>
        <p:txBody>
          <a:bodyPr wrap="square" lIns="0" tIns="0" rIns="0" bIns="0" rtlCol="0" anchor="ctr"/>
          <a:lstStyle/>
          <a:p>
            <a:pPr algn="r" indent="0" marL="0">
              <a:buNone/>
            </a:pPr>
            <a:r>
              <a:rPr lang="en-US" sz="1600" b="1" dirty="0">
                <a:solidFill>
                  <a:schemeClr val="accent1"/>
                </a:solidFill>
              </a:rPr>
              <a:t>10%</a:t>
            </a:r>
            <a:endParaRPr lang="en-US" sz="1600" dirty="0"/>
          </a:p>
        </p:txBody>
      </p:sp>
      <p:sp>
        <p:nvSpPr>
          <p:cNvPr id="36" name="Text 34"/>
          <p:cNvSpPr txBox="1"/>
          <p:nvPr/>
        </p:nvSpPr>
        <p:spPr>
          <a:xfrm>
            <a:off x="4599432" y="4754880"/>
            <a:ext cx="2971800" cy="457200"/>
          </a:xfrm>
          <a:prstGeom prst="rect">
            <a:avLst/>
          </a:prstGeom>
          <a:noFill/>
          <a:ln/>
        </p:spPr>
        <p:txBody>
          <a:bodyPr wrap="square" lIns="0" tIns="0" rIns="0" bIns="0" rtlCol="0" anchor="t"/>
          <a:lstStyle/>
          <a:p>
            <a:pPr indent="0" marL="0">
              <a:buNone/>
            </a:pPr>
            <a:r>
              <a:rPr lang="en-US" sz="1400" i="1" dirty="0">
                <a:solidFill>
                  <a:schemeClr val="tx2"/>
                </a:solidFill>
              </a:rPr>
              <a:t>share of the chance that counts</a:t>
            </a:r>
            <a:endParaRPr lang="en-US" sz="1400" dirty="0"/>
          </a:p>
        </p:txBody>
      </p:sp>
      <p:sp>
        <p:nvSpPr>
          <p:cNvPr id="37" name="arrow"/>
          <p:cNvSpPr/>
          <p:nvPr/>
        </p:nvSpPr>
        <p:spPr>
          <a:xfrm>
            <a:off x="4041648" y="3246120"/>
            <a:ext cx="274320" cy="365760"/>
          </a:xfrm>
          <a:prstGeom prst="rightArrow">
            <a:avLst/>
          </a:prstGeom>
          <a:solidFill>
            <a:schemeClr val="accent5"/>
          </a:solidFill>
          <a:ln w="6350">
            <a:solidFill>
              <a:schemeClr val="accent5"/>
            </a:solidFill>
            <a:prstDash val="solid"/>
          </a:ln>
        </p:spPr>
      </p:sp>
      <p:sp>
        <p:nvSpPr>
          <p:cNvPr id="38" name="arrow"/>
          <p:cNvSpPr/>
          <p:nvPr/>
        </p:nvSpPr>
        <p:spPr>
          <a:xfrm>
            <a:off x="7863840" y="3246120"/>
            <a:ext cx="274320" cy="365760"/>
          </a:xfrm>
          <a:prstGeom prst="rightArrow">
            <a:avLst/>
          </a:prstGeom>
          <a:solidFill>
            <a:schemeClr val="accent5"/>
          </a:solidFill>
          <a:ln w="6350">
            <a:solidFill>
              <a:schemeClr val="accent5"/>
            </a:solidFill>
            <a:prstDash val="solid"/>
          </a:ln>
        </p:spPr>
      </p:sp>
      <p:sp>
        <p:nvSpPr>
          <p:cNvPr id="39" name="score step 3"/>
          <p:cNvSpPr/>
          <p:nvPr/>
        </p:nvSpPr>
        <p:spPr>
          <a:xfrm>
            <a:off x="8193024" y="1417320"/>
            <a:ext cx="3429000" cy="4023360"/>
          </a:xfrm>
          <a:prstGeom prst="roundRect">
            <a:avLst>
              <a:gd name="adj" fmla="val 2133"/>
            </a:avLst>
          </a:prstGeom>
          <a:solidFill>
            <a:schemeClr val="bg1"/>
          </a:solidFill>
          <a:ln w="9525">
            <a:solidFill>
              <a:schemeClr val="accent6"/>
            </a:solidFill>
            <a:prstDash val="solid"/>
          </a:ln>
          <a:effectLst>
            <a:outerShdw sx="100000" sy="100000" kx="0" ky="0" algn="bl" rotWithShape="0" blurRad="76200" dist="25400" dir="5400000">
              <a:srgbClr val="000000">
                <a:alpha val="12000"/>
              </a:srgbClr>
            </a:outerShdw>
          </a:effectLst>
        </p:spPr>
      </p:sp>
      <p:sp>
        <p:nvSpPr>
          <p:cNvPr id="40" name="num"/>
          <p:cNvSpPr/>
          <p:nvPr/>
        </p:nvSpPr>
        <p:spPr>
          <a:xfrm>
            <a:off x="8421624" y="1627632"/>
            <a:ext cx="457200" cy="457200"/>
          </a:xfrm>
          <a:prstGeom prst="ellipse">
            <a:avLst/>
          </a:prstGeom>
          <a:solidFill>
            <a:schemeClr val="accent1"/>
          </a:solidFill>
          <a:ln w="6350">
            <a:solidFill>
              <a:schemeClr val="accent1"/>
            </a:solidFill>
            <a:prstDash val="solid"/>
          </a:ln>
        </p:spPr>
      </p:sp>
      <p:sp>
        <p:nvSpPr>
          <p:cNvPr id="41" name="Text 39"/>
          <p:cNvSpPr txBox="1"/>
          <p:nvPr/>
        </p:nvSpPr>
        <p:spPr>
          <a:xfrm>
            <a:off x="8421624" y="16276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Text 40"/>
          <p:cNvSpPr txBox="1"/>
          <p:nvPr/>
        </p:nvSpPr>
        <p:spPr>
          <a:xfrm>
            <a:off x="9015984" y="1572768"/>
            <a:ext cx="2423160" cy="594360"/>
          </a:xfrm>
          <a:prstGeom prst="rect">
            <a:avLst/>
          </a:prstGeom>
          <a:noFill/>
          <a:ln/>
        </p:spPr>
        <p:txBody>
          <a:bodyPr wrap="square" lIns="0" tIns="0" rIns="0" bIns="0" rtlCol="0" anchor="ctr"/>
          <a:lstStyle/>
          <a:p>
            <a:pPr indent="0" marL="0">
              <a:buNone/>
            </a:pPr>
            <a:r>
              <a:rPr lang="en-US" sz="1800" b="1" dirty="0">
                <a:solidFill>
                  <a:schemeClr val="tx1"/>
                </a:solidFill>
              </a:rPr>
              <a:t>Combine into one score</a:t>
            </a:r>
            <a:endParaRPr lang="en-US" sz="1800" dirty="0"/>
          </a:p>
        </p:txBody>
      </p:sp>
      <p:sp>
        <p:nvSpPr>
          <p:cNvPr id="43" name="Text 41"/>
          <p:cNvSpPr txBox="1"/>
          <p:nvPr/>
        </p:nvSpPr>
        <p:spPr>
          <a:xfrm>
            <a:off x="8421624" y="2331720"/>
            <a:ext cx="2971800" cy="292608"/>
          </a:xfrm>
          <a:prstGeom prst="rect">
            <a:avLst/>
          </a:prstGeom>
          <a:noFill/>
          <a:ln/>
        </p:spPr>
        <p:txBody>
          <a:bodyPr wrap="square" lIns="0" tIns="0" rIns="0" bIns="0" rtlCol="0" anchor="t"/>
          <a:lstStyle/>
          <a:p>
            <a:pPr indent="0" marL="0">
              <a:buNone/>
            </a:pPr>
            <a:r>
              <a:rPr lang="en-US" sz="1400" b="1" dirty="0">
                <a:solidFill>
                  <a:schemeClr val="tx1"/>
                </a:solidFill>
              </a:rPr>
              <a:t>Score = 100 × [1 − 0.98 × Π(1 − q)]</a:t>
            </a:r>
            <a:endParaRPr lang="en-US" sz="1400" dirty="0"/>
          </a:p>
        </p:txBody>
      </p:sp>
      <p:sp>
        <p:nvSpPr>
          <p:cNvPr id="44" name="Text 42"/>
          <p:cNvSpPr txBox="1"/>
          <p:nvPr/>
        </p:nvSpPr>
        <p:spPr>
          <a:xfrm>
            <a:off x="8421624" y="2624328"/>
            <a:ext cx="2971800" cy="274320"/>
          </a:xfrm>
          <a:prstGeom prst="rect">
            <a:avLst/>
          </a:prstGeom>
          <a:noFill/>
          <a:ln/>
        </p:spPr>
        <p:txBody>
          <a:bodyPr wrap="square" lIns="0" tIns="0" rIns="0" bIns="0" rtlCol="0" anchor="t"/>
          <a:lstStyle/>
          <a:p>
            <a:pPr indent="0" marL="0">
              <a:buNone/>
            </a:pPr>
            <a:r>
              <a:rPr lang="en-US" sz="1200" i="1" dirty="0">
                <a:solidFill>
                  <a:schemeClr val="tx2"/>
                </a:solidFill>
              </a:rPr>
              <a:t>q = what each finding counts (steps 1–2)</a:t>
            </a:r>
            <a:endParaRPr lang="en-US" sz="1200" dirty="0"/>
          </a:p>
        </p:txBody>
      </p:sp>
      <p:sp>
        <p:nvSpPr>
          <p:cNvPr id="45" name="band High"/>
          <p:cNvSpPr/>
          <p:nvPr/>
        </p:nvSpPr>
        <p:spPr>
          <a:xfrm>
            <a:off x="8421624" y="3017520"/>
            <a:ext cx="1234440" cy="347472"/>
          </a:xfrm>
          <a:prstGeom prst="roundRect">
            <a:avLst>
              <a:gd name="adj" fmla="val 15789"/>
            </a:avLst>
          </a:prstGeom>
          <a:solidFill>
            <a:schemeClr val="accent1"/>
          </a:solidFill>
          <a:ln w="6350">
            <a:solidFill>
              <a:schemeClr val="accent1"/>
            </a:solidFill>
            <a:prstDash val="solid"/>
          </a:ln>
        </p:spPr>
      </p:sp>
      <p:sp>
        <p:nvSpPr>
          <p:cNvPr id="46" name="Text 44"/>
          <p:cNvSpPr txBox="1"/>
          <p:nvPr/>
        </p:nvSpPr>
        <p:spPr>
          <a:xfrm>
            <a:off x="8421624" y="3017520"/>
            <a:ext cx="1234440" cy="347472"/>
          </a:xfrm>
          <a:prstGeom prst="rect">
            <a:avLst/>
          </a:prstGeom>
          <a:noFill/>
          <a:ln/>
        </p:spPr>
        <p:txBody>
          <a:bodyPr wrap="square" lIns="0" tIns="0" rIns="0" bIns="0" rtlCol="0" anchor="ctr"/>
          <a:lstStyle/>
          <a:p>
            <a:pPr algn="ctr" indent="0" marL="0">
              <a:buNone/>
            </a:pPr>
            <a:r>
              <a:rPr lang="en-US" sz="1400" b="1" dirty="0">
                <a:solidFill>
                  <a:schemeClr val="bg1"/>
                </a:solidFill>
              </a:rPr>
              <a:t>High</a:t>
            </a:r>
            <a:endParaRPr lang="en-US" sz="1400" dirty="0"/>
          </a:p>
        </p:txBody>
      </p:sp>
      <p:sp>
        <p:nvSpPr>
          <p:cNvPr id="47" name="Text 45"/>
          <p:cNvSpPr txBox="1"/>
          <p:nvPr/>
        </p:nvSpPr>
        <p:spPr>
          <a:xfrm>
            <a:off x="9793224" y="3017520"/>
            <a:ext cx="1645920" cy="347472"/>
          </a:xfrm>
          <a:prstGeom prst="rect">
            <a:avLst/>
          </a:prstGeom>
          <a:noFill/>
          <a:ln/>
        </p:spPr>
        <p:txBody>
          <a:bodyPr wrap="square" lIns="0" tIns="0" rIns="0" bIns="0" rtlCol="0" anchor="ctr"/>
          <a:lstStyle/>
          <a:p>
            <a:pPr indent="0" marL="0">
              <a:buNone/>
            </a:pPr>
            <a:r>
              <a:rPr lang="en-US" sz="1400" dirty="0">
                <a:solidFill>
                  <a:schemeClr val="tx1"/>
                </a:solidFill>
              </a:rPr>
              <a:t>40 and above</a:t>
            </a:r>
            <a:endParaRPr lang="en-US" sz="1400" dirty="0"/>
          </a:p>
        </p:txBody>
      </p:sp>
      <p:sp>
        <p:nvSpPr>
          <p:cNvPr id="48" name="band Medium"/>
          <p:cNvSpPr/>
          <p:nvPr/>
        </p:nvSpPr>
        <p:spPr>
          <a:xfrm>
            <a:off x="8421624" y="3447288"/>
            <a:ext cx="1234440" cy="347472"/>
          </a:xfrm>
          <a:prstGeom prst="roundRect">
            <a:avLst>
              <a:gd name="adj" fmla="val 15789"/>
            </a:avLst>
          </a:prstGeom>
          <a:solidFill>
            <a:schemeClr val="accent4"/>
          </a:solidFill>
          <a:ln w="6350">
            <a:solidFill>
              <a:schemeClr val="accent4"/>
            </a:solidFill>
            <a:prstDash val="solid"/>
          </a:ln>
        </p:spPr>
      </p:sp>
      <p:sp>
        <p:nvSpPr>
          <p:cNvPr id="49" name="Text 47"/>
          <p:cNvSpPr txBox="1"/>
          <p:nvPr/>
        </p:nvSpPr>
        <p:spPr>
          <a:xfrm>
            <a:off x="8421624" y="3447288"/>
            <a:ext cx="1234440" cy="347472"/>
          </a:xfrm>
          <a:prstGeom prst="rect">
            <a:avLst/>
          </a:prstGeom>
          <a:noFill/>
          <a:ln/>
        </p:spPr>
        <p:txBody>
          <a:bodyPr wrap="square" lIns="0" tIns="0" rIns="0" bIns="0" rtlCol="0" anchor="ctr"/>
          <a:lstStyle/>
          <a:p>
            <a:pPr algn="ctr" indent="0" marL="0">
              <a:buNone/>
            </a:pPr>
            <a:r>
              <a:rPr lang="en-US" sz="1400" b="1" dirty="0">
                <a:solidFill>
                  <a:schemeClr val="bg1"/>
                </a:solidFill>
              </a:rPr>
              <a:t>Medium</a:t>
            </a:r>
            <a:endParaRPr lang="en-US" sz="1400" dirty="0"/>
          </a:p>
        </p:txBody>
      </p:sp>
      <p:sp>
        <p:nvSpPr>
          <p:cNvPr id="50" name="Text 48"/>
          <p:cNvSpPr txBox="1"/>
          <p:nvPr/>
        </p:nvSpPr>
        <p:spPr>
          <a:xfrm>
            <a:off x="9793224" y="3447288"/>
            <a:ext cx="1645920" cy="347472"/>
          </a:xfrm>
          <a:prstGeom prst="rect">
            <a:avLst/>
          </a:prstGeom>
          <a:noFill/>
          <a:ln/>
        </p:spPr>
        <p:txBody>
          <a:bodyPr wrap="square" lIns="0" tIns="0" rIns="0" bIns="0" rtlCol="0" anchor="ctr"/>
          <a:lstStyle/>
          <a:p>
            <a:pPr indent="0" marL="0">
              <a:buNone/>
            </a:pPr>
            <a:r>
              <a:rPr lang="en-US" sz="1400" dirty="0">
                <a:solidFill>
                  <a:schemeClr val="tx1"/>
                </a:solidFill>
              </a:rPr>
              <a:t>25 to 39</a:t>
            </a:r>
            <a:endParaRPr lang="en-US" sz="1400" dirty="0"/>
          </a:p>
        </p:txBody>
      </p:sp>
      <p:sp>
        <p:nvSpPr>
          <p:cNvPr id="51" name="band Low"/>
          <p:cNvSpPr/>
          <p:nvPr/>
        </p:nvSpPr>
        <p:spPr>
          <a:xfrm>
            <a:off x="8421624" y="3877056"/>
            <a:ext cx="1234440" cy="347472"/>
          </a:xfrm>
          <a:prstGeom prst="roundRect">
            <a:avLst>
              <a:gd name="adj" fmla="val 15789"/>
            </a:avLst>
          </a:prstGeom>
          <a:solidFill>
            <a:schemeClr val="accent2"/>
          </a:solidFill>
          <a:ln w="6350">
            <a:solidFill>
              <a:schemeClr val="accent2"/>
            </a:solidFill>
            <a:prstDash val="solid"/>
          </a:ln>
        </p:spPr>
      </p:sp>
      <p:sp>
        <p:nvSpPr>
          <p:cNvPr id="52" name="Text 50"/>
          <p:cNvSpPr txBox="1"/>
          <p:nvPr/>
        </p:nvSpPr>
        <p:spPr>
          <a:xfrm>
            <a:off x="8421624" y="3877056"/>
            <a:ext cx="1234440" cy="347472"/>
          </a:xfrm>
          <a:prstGeom prst="rect">
            <a:avLst/>
          </a:prstGeom>
          <a:noFill/>
          <a:ln/>
        </p:spPr>
        <p:txBody>
          <a:bodyPr wrap="square" lIns="0" tIns="0" rIns="0" bIns="0" rtlCol="0" anchor="ctr"/>
          <a:lstStyle/>
          <a:p>
            <a:pPr algn="ctr" indent="0" marL="0">
              <a:buNone/>
            </a:pPr>
            <a:r>
              <a:rPr lang="en-US" sz="1400" b="1" dirty="0">
                <a:solidFill>
                  <a:schemeClr val="bg1"/>
                </a:solidFill>
              </a:rPr>
              <a:t>Low</a:t>
            </a:r>
            <a:endParaRPr lang="en-US" sz="1400" dirty="0"/>
          </a:p>
        </p:txBody>
      </p:sp>
      <p:sp>
        <p:nvSpPr>
          <p:cNvPr id="53" name="Text 51"/>
          <p:cNvSpPr txBox="1"/>
          <p:nvPr/>
        </p:nvSpPr>
        <p:spPr>
          <a:xfrm>
            <a:off x="9793224" y="3877056"/>
            <a:ext cx="1645920" cy="347472"/>
          </a:xfrm>
          <a:prstGeom prst="rect">
            <a:avLst/>
          </a:prstGeom>
          <a:noFill/>
          <a:ln/>
        </p:spPr>
        <p:txBody>
          <a:bodyPr wrap="square" lIns="0" tIns="0" rIns="0" bIns="0" rtlCol="0" anchor="ctr"/>
          <a:lstStyle/>
          <a:p>
            <a:pPr indent="0" marL="0">
              <a:buNone/>
            </a:pPr>
            <a:r>
              <a:rPr lang="en-US" sz="1400" dirty="0">
                <a:solidFill>
                  <a:schemeClr val="tx1"/>
                </a:solidFill>
              </a:rPr>
              <a:t>10 to 24</a:t>
            </a:r>
            <a:endParaRPr lang="en-US" sz="1400" dirty="0"/>
          </a:p>
        </p:txBody>
      </p:sp>
      <p:sp>
        <p:nvSpPr>
          <p:cNvPr id="54" name="band Minimal"/>
          <p:cNvSpPr/>
          <p:nvPr/>
        </p:nvSpPr>
        <p:spPr>
          <a:xfrm>
            <a:off x="8421624" y="4306824"/>
            <a:ext cx="1234440" cy="347472"/>
          </a:xfrm>
          <a:prstGeom prst="roundRect">
            <a:avLst>
              <a:gd name="adj" fmla="val 15789"/>
            </a:avLst>
          </a:prstGeom>
          <a:solidFill>
            <a:schemeClr val="accent6"/>
          </a:solidFill>
          <a:ln w="6350">
            <a:solidFill>
              <a:schemeClr val="accent6"/>
            </a:solidFill>
            <a:prstDash val="solid"/>
          </a:ln>
        </p:spPr>
      </p:sp>
      <p:sp>
        <p:nvSpPr>
          <p:cNvPr id="55" name="Text 53"/>
          <p:cNvSpPr txBox="1"/>
          <p:nvPr/>
        </p:nvSpPr>
        <p:spPr>
          <a:xfrm>
            <a:off x="8421624" y="4306824"/>
            <a:ext cx="1234440" cy="347472"/>
          </a:xfrm>
          <a:prstGeom prst="rect">
            <a:avLst/>
          </a:prstGeom>
          <a:noFill/>
          <a:ln/>
        </p:spPr>
        <p:txBody>
          <a:bodyPr wrap="square" lIns="0" tIns="0" rIns="0" bIns="0" rtlCol="0" anchor="ctr"/>
          <a:lstStyle/>
          <a:p>
            <a:pPr algn="ctr" indent="0" marL="0">
              <a:buNone/>
            </a:pPr>
            <a:r>
              <a:rPr lang="en-US" sz="1400" b="1" dirty="0">
                <a:solidFill>
                  <a:schemeClr val="tx1"/>
                </a:solidFill>
              </a:rPr>
              <a:t>Minimal</a:t>
            </a:r>
            <a:endParaRPr lang="en-US" sz="1400" dirty="0"/>
          </a:p>
        </p:txBody>
      </p:sp>
      <p:sp>
        <p:nvSpPr>
          <p:cNvPr id="56" name="Text 54"/>
          <p:cNvSpPr txBox="1"/>
          <p:nvPr/>
        </p:nvSpPr>
        <p:spPr>
          <a:xfrm>
            <a:off x="9793224" y="4306824"/>
            <a:ext cx="1645920" cy="347472"/>
          </a:xfrm>
          <a:prstGeom prst="rect">
            <a:avLst/>
          </a:prstGeom>
          <a:noFill/>
          <a:ln/>
        </p:spPr>
        <p:txBody>
          <a:bodyPr wrap="square" lIns="0" tIns="0" rIns="0" bIns="0" rtlCol="0" anchor="ctr"/>
          <a:lstStyle/>
          <a:p>
            <a:pPr indent="0" marL="0">
              <a:buNone/>
            </a:pPr>
            <a:r>
              <a:rPr lang="en-US" sz="1400" dirty="0">
                <a:solidFill>
                  <a:schemeClr val="tx1"/>
                </a:solidFill>
              </a:rPr>
              <a:t>below 10</a:t>
            </a:r>
            <a:endParaRPr lang="en-US" sz="1400" dirty="0"/>
          </a:p>
        </p:txBody>
      </p:sp>
      <p:sp>
        <p:nvSpPr>
          <p:cNvPr id="57" name="Text 55"/>
          <p:cNvSpPr txBox="1"/>
          <p:nvPr/>
        </p:nvSpPr>
        <p:spPr>
          <a:xfrm>
            <a:off x="8421624" y="4754880"/>
            <a:ext cx="2971800" cy="457200"/>
          </a:xfrm>
          <a:prstGeom prst="rect">
            <a:avLst/>
          </a:prstGeom>
          <a:noFill/>
          <a:ln/>
        </p:spPr>
        <p:txBody>
          <a:bodyPr wrap="square" lIns="0" tIns="0" rIns="0" bIns="0" rtlCol="0" anchor="t"/>
          <a:lstStyle/>
          <a:p>
            <a:pPr indent="0" marL="0">
              <a:buNone/>
            </a:pPr>
            <a:r>
              <a:rPr lang="en-US" sz="1400" i="1" dirty="0">
                <a:solidFill>
                  <a:schemeClr val="tx2"/>
                </a:solidFill>
              </a:rPr>
              <a:t>selected at 30 or more (adjustable)</a:t>
            </a:r>
            <a:endParaRPr lang="en-US" sz="1400" dirty="0"/>
          </a:p>
        </p:txBody>
      </p:sp>
      <p:sp>
        <p:nvSpPr>
          <p:cNvPr id="58" name="Text 56"/>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600" dirty="0">
                <a:solidFill>
                  <a:schemeClr val="tx1"/>
                </a:solidFill>
              </a:rPr>
              <a:t>Expected recovery = Σ (chance × payment drop)  ·  chance of no finding = 100 − score</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Worked example: one finding moves the money</a:t>
            </a:r>
            <a:endParaRPr lang="en-US" sz="3600" dirty="0"/>
          </a:p>
        </p:txBody>
      </p:sp>
      <p:sp>
        <p:nvSpPr>
          <p:cNvPr id="3" name="claim card"/>
          <p:cNvSpPr/>
          <p:nvPr/>
        </p:nvSpPr>
        <p:spPr>
          <a:xfrm>
            <a:off x="548640" y="1417320"/>
            <a:ext cx="3657600" cy="4526280"/>
          </a:xfrm>
          <a:prstGeom prst="roundRect">
            <a:avLst>
              <a:gd name="adj" fmla="val 2000"/>
            </a:avLst>
          </a:prstGeom>
          <a:solidFill>
            <a:schemeClr val="bg2"/>
          </a:solidFill>
          <a:ln w="6350">
            <a:solidFill>
              <a:schemeClr val="bg2"/>
            </a:solidFill>
            <a:prstDash val="solid"/>
          </a:ln>
        </p:spPr>
      </p:sp>
      <p:sp>
        <p:nvSpPr>
          <p:cNvPr id="4" name="Text 2"/>
          <p:cNvSpPr txBox="1"/>
          <p:nvPr/>
        </p:nvSpPr>
        <p:spPr>
          <a:xfrm>
            <a:off x="777240" y="1600200"/>
            <a:ext cx="3291840" cy="411480"/>
          </a:xfrm>
          <a:prstGeom prst="rect">
            <a:avLst/>
          </a:prstGeom>
          <a:noFill/>
          <a:ln/>
        </p:spPr>
        <p:txBody>
          <a:bodyPr wrap="square" lIns="0" tIns="0" rIns="0" bIns="0" rtlCol="0" anchor="t"/>
          <a:lstStyle/>
          <a:p>
            <a:pPr indent="0" marL="0">
              <a:buNone/>
            </a:pPr>
            <a:r>
              <a:rPr lang="en-US" sz="1800" b="1" dirty="0">
                <a:solidFill>
                  <a:schemeClr val="tx1"/>
                </a:solidFill>
              </a:rPr>
              <a:t>The claim (inpatient)</a:t>
            </a:r>
            <a:endParaRPr lang="en-US" sz="1800" dirty="0"/>
          </a:p>
        </p:txBody>
      </p:sp>
      <p:sp>
        <p:nvSpPr>
          <p:cNvPr id="5" name="Text 3"/>
          <p:cNvSpPr txBox="1"/>
          <p:nvPr/>
        </p:nvSpPr>
        <p:spPr>
          <a:xfrm>
            <a:off x="777240" y="2148840"/>
            <a:ext cx="3291840" cy="2651760"/>
          </a:xfrm>
          <a:prstGeom prst="rect">
            <a:avLst/>
          </a:prstGeom>
          <a:noFill/>
          <a:ln/>
        </p:spPr>
        <p:txBody>
          <a:bodyPr wrap="square" lIns="0" tIns="0" rIns="0" bIns="0" rtlCol="0" anchor="t"/>
          <a:lstStyle/>
          <a:p>
            <a:pPr indent="0" marL="0">
              <a:spcAft>
                <a:spcPts val="900"/>
              </a:spcAft>
              <a:buNone/>
            </a:pPr>
            <a:r>
              <a:rPr lang="en-US" sz="1500" b="1" dirty="0">
                <a:solidFill>
                  <a:schemeClr val="tx1"/>
                </a:solidFill>
              </a:rPr>
              <a:t>J18.9   </a:t>
            </a:r>
            <a:pPr indent="0" marL="0">
              <a:spcAft>
                <a:spcPts val="900"/>
              </a:spcAft>
              <a:buNone/>
            </a:pPr>
            <a:r>
              <a:rPr lang="en-US" sz="1500" dirty="0">
                <a:solidFill>
                  <a:schemeClr val="tx1"/>
                </a:solidFill>
              </a:rPr>
              <a:t>Pneumonia (principal)</a:t>
            </a:r>
            <a:endParaRPr lang="en-US" sz="1500" dirty="0"/>
          </a:p>
          <a:p>
            <a:pPr indent="0" marL="0">
              <a:spcAft>
                <a:spcPts val="900"/>
              </a:spcAft>
              <a:buNone/>
            </a:pPr>
            <a:r>
              <a:rPr lang="en-US" sz="1500" b="1" dirty="0">
                <a:solidFill>
                  <a:schemeClr val="accent1"/>
                </a:solidFill>
              </a:rPr>
              <a:t>E43   </a:t>
            </a:r>
            <a:pPr indent="0" marL="0">
              <a:spcAft>
                <a:spcPts val="900"/>
              </a:spcAft>
              <a:buNone/>
            </a:pPr>
            <a:r>
              <a:rPr lang="en-US" sz="1500" dirty="0">
                <a:solidFill>
                  <a:schemeClr val="tx1"/>
                </a:solidFill>
              </a:rPr>
              <a:t>Severe malnutrition · MCC</a:t>
            </a:r>
            <a:endParaRPr lang="en-US" sz="1500" dirty="0"/>
          </a:p>
          <a:p>
            <a:pPr indent="0" marL="0">
              <a:spcAft>
                <a:spcPts val="900"/>
              </a:spcAft>
              <a:buNone/>
            </a:pPr>
            <a:r>
              <a:rPr lang="en-US" sz="1500" b="1" dirty="0">
                <a:solidFill>
                  <a:schemeClr val="tx1"/>
                </a:solidFill>
              </a:rPr>
              <a:t>N17.9   </a:t>
            </a:r>
            <a:pPr indent="0" marL="0">
              <a:spcAft>
                <a:spcPts val="900"/>
              </a:spcAft>
              <a:buNone/>
            </a:pPr>
            <a:r>
              <a:rPr lang="en-US" sz="1500" dirty="0">
                <a:solidFill>
                  <a:schemeClr val="tx1"/>
                </a:solidFill>
              </a:rPr>
              <a:t>Acute kidney failure · CC</a:t>
            </a:r>
            <a:endParaRPr lang="en-US" sz="1500" dirty="0"/>
          </a:p>
          <a:p>
            <a:pPr indent="0" marL="0">
              <a:spcAft>
                <a:spcPts val="900"/>
              </a:spcAft>
              <a:buNone/>
            </a:pPr>
            <a:r>
              <a:rPr lang="en-US" sz="1500" b="1" dirty="0">
                <a:solidFill>
                  <a:schemeClr val="tx1"/>
                </a:solidFill>
              </a:rPr>
              <a:t>I10   </a:t>
            </a:r>
            <a:pPr indent="0" marL="0">
              <a:spcAft>
                <a:spcPts val="900"/>
              </a:spcAft>
              <a:buNone/>
            </a:pPr>
            <a:r>
              <a:rPr lang="en-US" sz="1500" dirty="0">
                <a:solidFill>
                  <a:schemeClr val="tx1"/>
                </a:solidFill>
              </a:rPr>
              <a:t>Hypertension</a:t>
            </a:r>
            <a:endParaRPr lang="en-US" sz="1500" dirty="0"/>
          </a:p>
          <a:p>
            <a:pPr indent="0" marL="0">
              <a:spcAft>
                <a:spcPts val="900"/>
              </a:spcAft>
              <a:buNone/>
            </a:pPr>
            <a:r>
              <a:rPr lang="en-US" sz="1500" b="1" dirty="0">
                <a:solidFill>
                  <a:schemeClr val="tx1"/>
                </a:solidFill>
              </a:rPr>
              <a:t>N18.30   </a:t>
            </a:r>
            <a:pPr indent="0" marL="0">
              <a:spcAft>
                <a:spcPts val="900"/>
              </a:spcAft>
              <a:buNone/>
            </a:pPr>
            <a:r>
              <a:rPr lang="en-US" sz="1500" dirty="0">
                <a:solidFill>
                  <a:schemeClr val="tx1"/>
                </a:solidFill>
              </a:rPr>
              <a:t>CKD stage 3</a:t>
            </a:r>
            <a:endParaRPr lang="en-US" sz="1500" dirty="0"/>
          </a:p>
          <a:p>
            <a:pPr indent="0" marL="0">
              <a:spcAft>
                <a:spcPts val="900"/>
              </a:spcAft>
              <a:buNone/>
            </a:pPr>
            <a:r>
              <a:rPr lang="en-US" sz="1500" b="1" dirty="0">
                <a:solidFill>
                  <a:schemeClr val="tx1"/>
                </a:solidFill>
              </a:rPr>
              <a:t>E11.9   </a:t>
            </a:r>
            <a:pPr indent="0" marL="0">
              <a:spcAft>
                <a:spcPts val="900"/>
              </a:spcAft>
              <a:buNone/>
            </a:pPr>
            <a:r>
              <a:rPr lang="en-US" sz="1500" dirty="0">
                <a:solidFill>
                  <a:schemeClr val="tx1"/>
                </a:solidFill>
              </a:rPr>
              <a:t>Diabetes, no complications</a:t>
            </a:r>
            <a:endParaRPr lang="en-US" sz="1500" dirty="0"/>
          </a:p>
          <a:p>
            <a:pPr indent="0" marL="0">
              <a:spcAft>
                <a:spcPts val="900"/>
              </a:spcAft>
              <a:buNone/>
            </a:pPr>
            <a:r>
              <a:rPr lang="en-US" sz="1500" b="1" dirty="0">
                <a:solidFill>
                  <a:schemeClr val="tx1"/>
                </a:solidFill>
              </a:rPr>
              <a:t>E11.22   </a:t>
            </a:r>
            <a:pPr indent="0" marL="0">
              <a:spcAft>
                <a:spcPts val="900"/>
              </a:spcAft>
              <a:buNone/>
            </a:pPr>
            <a:r>
              <a:rPr lang="en-US" sz="1500" dirty="0">
                <a:solidFill>
                  <a:schemeClr val="tx1"/>
                </a:solidFill>
              </a:rPr>
              <a:t>Diabetes with CKD</a:t>
            </a:r>
            <a:endParaRPr lang="en-US" sz="1500" dirty="0"/>
          </a:p>
        </p:txBody>
      </p:sp>
      <p:sp>
        <p:nvSpPr>
          <p:cNvPr id="6" name="Text 4"/>
          <p:cNvSpPr txBox="1"/>
          <p:nvPr/>
        </p:nvSpPr>
        <p:spPr>
          <a:xfrm>
            <a:off x="777240" y="4983480"/>
            <a:ext cx="3200400" cy="685800"/>
          </a:xfrm>
          <a:prstGeom prst="rect">
            <a:avLst/>
          </a:prstGeom>
          <a:noFill/>
          <a:ln/>
        </p:spPr>
        <p:txBody>
          <a:bodyPr wrap="square" lIns="0" tIns="0" rIns="0" bIns="0" rtlCol="0" anchor="t"/>
          <a:lstStyle/>
          <a:p>
            <a:pPr indent="0" marL="0">
              <a:buNone/>
            </a:pPr>
            <a:r>
              <a:rPr lang="en-US" sz="1400" i="1" dirty="0">
                <a:solidFill>
                  <a:schemeClr val="accent1"/>
                </a:solidFill>
              </a:rPr>
              <a:t>E43 is the only MCC, so DRG 193 depends on it.</a:t>
            </a:r>
            <a:endParaRPr lang="en-US" sz="1400" dirty="0"/>
          </a:p>
        </p:txBody>
      </p:sp>
      <p:sp>
        <p:nvSpPr>
          <p:cNvPr id="7" name="Billed"/>
          <p:cNvSpPr/>
          <p:nvPr/>
        </p:nvSpPr>
        <p:spPr>
          <a:xfrm>
            <a:off x="4526280" y="1417320"/>
            <a:ext cx="2514600" cy="1325880"/>
          </a:xfrm>
          <a:prstGeom prst="roundRect">
            <a:avLst>
              <a:gd name="adj" fmla="val 5517"/>
            </a:avLst>
          </a:prstGeom>
          <a:solidFill>
            <a:schemeClr val="bg1"/>
          </a:solidFill>
          <a:ln w="9525">
            <a:solidFill>
              <a:schemeClr val="accent6"/>
            </a:solidFill>
            <a:prstDash val="solid"/>
          </a:ln>
        </p:spPr>
      </p:sp>
      <p:sp>
        <p:nvSpPr>
          <p:cNvPr id="8" name="Text 6"/>
          <p:cNvSpPr txBox="1"/>
          <p:nvPr/>
        </p:nvSpPr>
        <p:spPr>
          <a:xfrm>
            <a:off x="4709160" y="1508760"/>
            <a:ext cx="2148840" cy="320040"/>
          </a:xfrm>
          <a:prstGeom prst="rect">
            <a:avLst/>
          </a:prstGeom>
          <a:noFill/>
          <a:ln/>
        </p:spPr>
        <p:txBody>
          <a:bodyPr wrap="square" lIns="0" tIns="0" rIns="0" bIns="0" rtlCol="0" anchor="t"/>
          <a:lstStyle/>
          <a:p>
            <a:pPr indent="0" marL="0">
              <a:buNone/>
            </a:pPr>
            <a:r>
              <a:rPr lang="en-US" sz="1200" dirty="0">
                <a:solidFill>
                  <a:schemeClr val="tx2"/>
                </a:solidFill>
              </a:rPr>
              <a:t>Billed</a:t>
            </a:r>
            <a:endParaRPr lang="en-US" sz="1200" dirty="0"/>
          </a:p>
        </p:txBody>
      </p:sp>
      <p:sp>
        <p:nvSpPr>
          <p:cNvPr id="9" name="Text 7"/>
          <p:cNvSpPr txBox="1"/>
          <p:nvPr/>
        </p:nvSpPr>
        <p:spPr>
          <a:xfrm>
            <a:off x="4709160" y="1810512"/>
            <a:ext cx="214884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DRG 193</a:t>
            </a:r>
            <a:endParaRPr lang="en-US" sz="2400" dirty="0"/>
          </a:p>
        </p:txBody>
      </p:sp>
      <p:sp>
        <p:nvSpPr>
          <p:cNvPr id="10" name="Text 8"/>
          <p:cNvSpPr txBox="1"/>
          <p:nvPr/>
        </p:nvSpPr>
        <p:spPr>
          <a:xfrm>
            <a:off x="4709160" y="2286000"/>
            <a:ext cx="2148840" cy="365760"/>
          </a:xfrm>
          <a:prstGeom prst="rect">
            <a:avLst/>
          </a:prstGeom>
          <a:noFill/>
          <a:ln/>
        </p:spPr>
        <p:txBody>
          <a:bodyPr wrap="square" lIns="0" tIns="0" rIns="0" bIns="0" rtlCol="0" anchor="t"/>
          <a:lstStyle/>
          <a:p>
            <a:pPr indent="0" marL="0">
              <a:buNone/>
            </a:pPr>
            <a:r>
              <a:rPr lang="en-US" sz="1800" dirty="0">
                <a:solidFill>
                  <a:schemeClr val="tx2"/>
                </a:solidFill>
              </a:rPr>
              <a:t>$9,565</a:t>
            </a:r>
            <a:endParaRPr lang="en-US" sz="1800" dirty="0"/>
          </a:p>
        </p:txBody>
      </p:sp>
      <p:sp>
        <p:nvSpPr>
          <p:cNvPr id="11" name="arrow"/>
          <p:cNvSpPr/>
          <p:nvPr/>
        </p:nvSpPr>
        <p:spPr>
          <a:xfrm>
            <a:off x="7159752" y="1874520"/>
            <a:ext cx="411480" cy="411480"/>
          </a:xfrm>
          <a:prstGeom prst="rightArrow">
            <a:avLst/>
          </a:prstGeom>
          <a:solidFill>
            <a:schemeClr val="accent1"/>
          </a:solidFill>
          <a:ln w="6350">
            <a:solidFill>
              <a:schemeClr val="accent1"/>
            </a:solidFill>
            <a:prstDash val="solid"/>
          </a:ln>
        </p:spPr>
      </p:sp>
      <p:sp>
        <p:nvSpPr>
          <p:cNvPr id="12" name="If E43 is not supported"/>
          <p:cNvSpPr/>
          <p:nvPr/>
        </p:nvSpPr>
        <p:spPr>
          <a:xfrm>
            <a:off x="7680960" y="1417320"/>
            <a:ext cx="2514600" cy="1325880"/>
          </a:xfrm>
          <a:prstGeom prst="roundRect">
            <a:avLst>
              <a:gd name="adj" fmla="val 5517"/>
            </a:avLst>
          </a:prstGeom>
          <a:solidFill>
            <a:schemeClr val="bg1"/>
          </a:solidFill>
          <a:ln w="9525">
            <a:solidFill>
              <a:schemeClr val="accent6"/>
            </a:solidFill>
            <a:prstDash val="solid"/>
          </a:ln>
        </p:spPr>
      </p:sp>
      <p:sp>
        <p:nvSpPr>
          <p:cNvPr id="13" name="Text 11"/>
          <p:cNvSpPr txBox="1"/>
          <p:nvPr/>
        </p:nvSpPr>
        <p:spPr>
          <a:xfrm>
            <a:off x="7863840" y="1508760"/>
            <a:ext cx="2148840" cy="320040"/>
          </a:xfrm>
          <a:prstGeom prst="rect">
            <a:avLst/>
          </a:prstGeom>
          <a:noFill/>
          <a:ln/>
        </p:spPr>
        <p:txBody>
          <a:bodyPr wrap="square" lIns="0" tIns="0" rIns="0" bIns="0" rtlCol="0" anchor="t"/>
          <a:lstStyle/>
          <a:p>
            <a:pPr indent="0" marL="0">
              <a:buNone/>
            </a:pPr>
            <a:r>
              <a:rPr lang="en-US" sz="1200" dirty="0">
                <a:solidFill>
                  <a:schemeClr val="tx2"/>
                </a:solidFill>
              </a:rPr>
              <a:t>If E43 is not supported</a:t>
            </a:r>
            <a:endParaRPr lang="en-US" sz="1200" dirty="0"/>
          </a:p>
        </p:txBody>
      </p:sp>
      <p:sp>
        <p:nvSpPr>
          <p:cNvPr id="14" name="Text 12"/>
          <p:cNvSpPr txBox="1"/>
          <p:nvPr/>
        </p:nvSpPr>
        <p:spPr>
          <a:xfrm>
            <a:off x="7863840" y="1810512"/>
            <a:ext cx="2148840" cy="457200"/>
          </a:xfrm>
          <a:prstGeom prst="rect">
            <a:avLst/>
          </a:prstGeom>
          <a:noFill/>
          <a:ln/>
        </p:spPr>
        <p:txBody>
          <a:bodyPr wrap="square" lIns="0" tIns="0" rIns="0" bIns="0" rtlCol="0" anchor="t"/>
          <a:lstStyle/>
          <a:p>
            <a:pPr indent="0" marL="0">
              <a:buNone/>
            </a:pPr>
            <a:r>
              <a:rPr lang="en-US" sz="2400" b="1" dirty="0">
                <a:solidFill>
                  <a:schemeClr val="tx1"/>
                </a:solidFill>
                <a:latin typeface="+mj-lt" pitchFamily="34" charset="0"/>
                <a:ea typeface="+mj-lt" pitchFamily="34" charset="-122"/>
                <a:cs typeface="+mj-lt" pitchFamily="34" charset="-120"/>
              </a:rPr>
              <a:t>DRG 194</a:t>
            </a:r>
            <a:endParaRPr lang="en-US" sz="2400" dirty="0"/>
          </a:p>
        </p:txBody>
      </p:sp>
      <p:sp>
        <p:nvSpPr>
          <p:cNvPr id="15" name="Text 13"/>
          <p:cNvSpPr txBox="1"/>
          <p:nvPr/>
        </p:nvSpPr>
        <p:spPr>
          <a:xfrm>
            <a:off x="7863840" y="2286000"/>
            <a:ext cx="2148840" cy="365760"/>
          </a:xfrm>
          <a:prstGeom prst="rect">
            <a:avLst/>
          </a:prstGeom>
          <a:noFill/>
          <a:ln/>
        </p:spPr>
        <p:txBody>
          <a:bodyPr wrap="square" lIns="0" tIns="0" rIns="0" bIns="0" rtlCol="0" anchor="t"/>
          <a:lstStyle/>
          <a:p>
            <a:pPr indent="0" marL="0">
              <a:buNone/>
            </a:pPr>
            <a:r>
              <a:rPr lang="en-US" sz="1800" dirty="0">
                <a:solidFill>
                  <a:schemeClr val="tx2"/>
                </a:solidFill>
              </a:rPr>
              <a:t>$5,864  (−$3,700)</a:t>
            </a:r>
            <a:endParaRPr lang="en-US" sz="1800" dirty="0"/>
          </a:p>
        </p:txBody>
      </p:sp>
      <p:sp>
        <p:nvSpPr>
          <p:cNvPr id="16" name="score ring"/>
          <p:cNvSpPr/>
          <p:nvPr/>
        </p:nvSpPr>
        <p:spPr>
          <a:xfrm>
            <a:off x="10424160" y="1371600"/>
            <a:ext cx="1188720" cy="1188720"/>
          </a:xfrm>
          <a:prstGeom prst="ellipse">
            <a:avLst/>
          </a:prstGeom>
          <a:solidFill>
            <a:schemeClr val="bg1"/>
          </a:solidFill>
          <a:ln w="76200">
            <a:solidFill>
              <a:schemeClr val="accent2"/>
            </a:solidFill>
            <a:prstDash val="solid"/>
          </a:ln>
        </p:spPr>
      </p:sp>
      <p:sp>
        <p:nvSpPr>
          <p:cNvPr id="17" name="Text 15"/>
          <p:cNvSpPr txBox="1"/>
          <p:nvPr/>
        </p:nvSpPr>
        <p:spPr>
          <a:xfrm>
            <a:off x="10424160" y="1371600"/>
            <a:ext cx="1188720" cy="1188720"/>
          </a:xfrm>
          <a:prstGeom prst="rect">
            <a:avLst/>
          </a:prstGeom>
          <a:noFill/>
          <a:ln/>
        </p:spPr>
        <p:txBody>
          <a:bodyPr wrap="square" lIns="0" tIns="0" rIns="0" bIns="0" rtlCol="0" anchor="ctr"/>
          <a:lstStyle/>
          <a:p>
            <a:pPr algn="ctr" indent="0" marL="0">
              <a:buNone/>
            </a:pPr>
            <a:r>
              <a:rPr lang="en-US" sz="3400" b="1" dirty="0">
                <a:solidFill>
                  <a:schemeClr val="tx1"/>
                </a:solidFill>
                <a:latin typeface="+mj-lt" pitchFamily="34" charset="0"/>
                <a:ea typeface="+mj-lt" pitchFamily="34" charset="-122"/>
                <a:cs typeface="+mj-lt" pitchFamily="34" charset="-120"/>
              </a:rPr>
              <a:t>22</a:t>
            </a:r>
            <a:endParaRPr lang="en-US" sz="3400" dirty="0"/>
          </a:p>
        </p:txBody>
      </p:sp>
      <p:sp>
        <p:nvSpPr>
          <p:cNvPr id="18" name="Text 16"/>
          <p:cNvSpPr txBox="1"/>
          <p:nvPr/>
        </p:nvSpPr>
        <p:spPr>
          <a:xfrm>
            <a:off x="10241280" y="2606040"/>
            <a:ext cx="1554480" cy="274320"/>
          </a:xfrm>
          <a:prstGeom prst="rect">
            <a:avLst/>
          </a:prstGeom>
          <a:noFill/>
          <a:ln/>
        </p:spPr>
        <p:txBody>
          <a:bodyPr wrap="square" lIns="0" tIns="0" rIns="0" bIns="0" rtlCol="0" anchor="t"/>
          <a:lstStyle/>
          <a:p>
            <a:pPr algn="ctr" indent="0" marL="0">
              <a:buNone/>
            </a:pPr>
            <a:r>
              <a:rPr lang="en-US" sz="1200" dirty="0">
                <a:solidFill>
                  <a:schemeClr val="tx2"/>
                </a:solidFill>
              </a:rPr>
              <a:t>Score · Low</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26280" y="3017520"/>
          <a:ext cx="7086600" cy="914400"/>
        </p:xfrm>
        <a:graphic>
          <a:graphicData uri="http://schemas.openxmlformats.org/drawingml/2006/table">
            <a:tbl>
              <a:tblPr/>
              <a:tblGrid>
                <a:gridCol w="3200400"/>
                <a:gridCol w="1325880"/>
                <a:gridCol w="1463040"/>
                <a:gridCol w="1097280"/>
              </a:tblGrid>
              <a:tr h="384048">
                <a:tc>
                  <a:txBody>
                    <a:bodyPr/>
                    <a:lstStyle/>
                    <a:p>
                      <a:pPr indent="0" marL="0">
                        <a:buNone/>
                      </a:pPr>
                      <a:r>
                        <a:rPr lang="en-US" sz="1400" b="1" dirty="0">
                          <a:solidFill>
                            <a:schemeClr val="tx1"/>
                          </a:solidFill>
                        </a:rPr>
                        <a:t>Finding</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Chance upheld</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Payment change</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c>
                  <a:txBody>
                    <a:bodyPr/>
                    <a:lstStyle/>
                    <a:p>
                      <a:pPr algn="r" indent="0" marL="0">
                        <a:buNone/>
                      </a:pPr>
                      <a:r>
                        <a:rPr lang="en-US" sz="1400" b="1" dirty="0">
                          <a:solidFill>
                            <a:schemeClr val="tx1"/>
                          </a:solidFill>
                        </a:rPr>
                        <a:t>Counts</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tx1"/>
                          </a:solidFill>
                        </a:rPr>
                        <a:t>Severe malnutrition (E43)</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FBE9E7"/>
                    </a:solidFill>
                  </a:tcPr>
                </a:tc>
                <a:tc>
                  <a:txBody>
                    <a:bodyPr/>
                    <a:lstStyle/>
                    <a:p>
                      <a:pPr algn="r" indent="0" marL="0">
                        <a:buNone/>
                      </a:pPr>
                      <a:r>
                        <a:rPr lang="en-US" sz="1400" dirty="0">
                          <a:solidFill>
                            <a:schemeClr val="tx1"/>
                          </a:solidFill>
                        </a:rPr>
                        <a:t>21%</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FBE9E7"/>
                    </a:solidFill>
                  </a:tcPr>
                </a:tc>
                <a:tc>
                  <a:txBody>
                    <a:bodyPr/>
                    <a:lstStyle/>
                    <a:p>
                      <a:pPr algn="r" indent="0" marL="0">
                        <a:buNone/>
                      </a:pPr>
                      <a:r>
                        <a:rPr lang="en-US" sz="1400" b="1" dirty="0">
                          <a:solidFill>
                            <a:schemeClr val="accent1"/>
                          </a:solidFill>
                        </a:rPr>
                        <a:t>−$3,700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FBE9E7"/>
                    </a:solidFill>
                  </a:tcPr>
                </a:tc>
                <a:tc>
                  <a:txBody>
                    <a:bodyPr/>
                    <a:lstStyle/>
                    <a:p>
                      <a:pPr algn="r" indent="0" marL="0">
                        <a:buNone/>
                      </a:pPr>
                      <a:r>
                        <a:rPr lang="en-US" sz="1400" b="1" dirty="0">
                          <a:solidFill>
                            <a:schemeClr val="tx1"/>
                          </a:solidFill>
                        </a:rPr>
                        <a:t>21%</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FBE9E7"/>
                    </a:solidFill>
                  </a:tcPr>
                </a:tc>
              </a:tr>
              <a:tr h="384048">
                <a:tc>
                  <a:txBody>
                    <a:bodyPr/>
                    <a:lstStyle/>
                    <a:p>
                      <a:pPr algn="l" indent="0" marL="0">
                        <a:buNone/>
                      </a:pPr>
                      <a:r>
                        <a:rPr lang="en-US" sz="1400" dirty="0">
                          <a:solidFill>
                            <a:schemeClr val="tx1"/>
                          </a:solidFill>
                        </a:rPr>
                        <a:t>Hypertension + CKD not combined</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46%</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r>
              <a:tr h="384048">
                <a:tc>
                  <a:txBody>
                    <a:bodyPr/>
                    <a:lstStyle/>
                    <a:p>
                      <a:pPr algn="l" indent="0" marL="0">
                        <a:buNone/>
                      </a:pPr>
                      <a:r>
                        <a:rPr lang="en-US" sz="1400" dirty="0">
                          <a:solidFill>
                            <a:schemeClr val="tx1"/>
                          </a:solidFill>
                        </a:rPr>
                        <a:t>Diabetes coding contradiction</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45%</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r>
              <a:tr h="384048">
                <a:tc>
                  <a:txBody>
                    <a:bodyPr/>
                    <a:lstStyle/>
                    <a:p>
                      <a:pPr algn="l" indent="0" marL="0">
                        <a:buNone/>
                      </a:pPr>
                      <a:r>
                        <a:rPr lang="en-US" sz="1400" dirty="0">
                          <a:solidFill>
                            <a:schemeClr val="tx1"/>
                          </a:solidFill>
                        </a:rPr>
                        <a:t>Acute kidney failure (N17.9)</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21%</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r>
              <a:tr h="384048">
                <a:tc>
                  <a:txBody>
                    <a:bodyPr/>
                    <a:lstStyle/>
                    <a:p>
                      <a:pPr algn="l" indent="0" marL="0">
                        <a:buNone/>
                      </a:pPr>
                      <a:r>
                        <a:rPr lang="en-US" sz="1400" dirty="0">
                          <a:solidFill>
                            <a:schemeClr val="tx1"/>
                          </a:solidFill>
                        </a:rPr>
                        <a:t>Mostly unspecified codes</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9%</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none</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algn="r" indent="0" marL="0">
                        <a:buNone/>
                      </a:pPr>
                      <a:r>
                        <a:rPr lang="en-US" sz="1400" dirty="0">
                          <a:solidFill>
                            <a:schemeClr val="tx1"/>
                          </a:solidFill>
                        </a:rPr>
                        <a:t>0%</a:t>
                      </a:r>
                      <a:endParaRPr lang="en-US" sz="1400" dirty="0"/>
                    </a:p>
                  </a:txBody>
                  <a:tcPr marL="91440" marR="91440"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r>
            </a:tbl>
          </a:graphicData>
        </a:graphic>
      </p:graphicFrame>
      <p:sp>
        <p:nvSpPr>
          <p:cNvPr id="20" name="Text 17"/>
          <p:cNvSpPr txBox="1"/>
          <p:nvPr/>
        </p:nvSpPr>
        <p:spPr>
          <a:xfrm>
            <a:off x="4526280" y="5440680"/>
            <a:ext cx="7086600" cy="548640"/>
          </a:xfrm>
          <a:prstGeom prst="rect">
            <a:avLst/>
          </a:prstGeom>
          <a:noFill/>
          <a:ln/>
        </p:spPr>
        <p:txBody>
          <a:bodyPr wrap="square" lIns="0" tIns="0" rIns="0" bIns="0" rtlCol="0" anchor="t"/>
          <a:lstStyle/>
          <a:p>
            <a:pPr indent="0" marL="0">
              <a:buNone/>
            </a:pPr>
            <a:r>
              <a:rPr lang="en-US" sz="1400" dirty="0">
                <a:solidFill>
                  <a:schemeClr val="tx2"/>
                </a:solidFill>
              </a:rPr>
              <a:t>Expected recovery $760 · maximum $3,700 · below the default threshold of 30. Action: clinical validation review of E43.</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Test claims rank by money at risk</a:t>
            </a:r>
            <a:endParaRPr lang="en-US" sz="3600" dirty="0"/>
          </a:p>
        </p:txBody>
      </p:sp>
      <p:graphicFrame>
        <p:nvGraphicFramePr>
          <p:cNvPr id="3" name="Chart 0" descr=""/>
          <p:cNvGraphicFramePr/>
          <p:nvPr/>
        </p:nvGraphicFramePr>
        <p:xfrm>
          <a:off x="548640" y="1325880"/>
          <a:ext cx="704088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897880"/>
            <a:ext cx="7040880" cy="274320"/>
          </a:xfrm>
          <a:prstGeom prst="rect">
            <a:avLst/>
          </a:prstGeom>
          <a:noFill/>
          <a:ln/>
        </p:spPr>
        <p:txBody>
          <a:bodyPr wrap="square" lIns="0" tIns="0" rIns="0" bIns="0" rtlCol="0" anchor="t"/>
          <a:lstStyle/>
          <a:p>
            <a:pPr indent="0" marL="0">
              <a:buNone/>
            </a:pPr>
            <a:r>
              <a:rPr lang="en-US" sz="1100" i="1" dirty="0">
                <a:solidFill>
                  <a:schemeClr val="accent5"/>
                </a:solidFill>
              </a:rPr>
              <a:t>33 synthetic test claims, one per rule or pricing path</a:t>
            </a:r>
            <a:endParaRPr lang="en-US" sz="1100" dirty="0"/>
          </a:p>
        </p:txBody>
      </p:sp>
      <p:sp>
        <p:nvSpPr>
          <p:cNvPr id="5" name="kpi 1"/>
          <p:cNvSpPr/>
          <p:nvPr/>
        </p:nvSpPr>
        <p:spPr>
          <a:xfrm>
            <a:off x="8001000" y="1417320"/>
            <a:ext cx="3611880" cy="1280160"/>
          </a:xfrm>
          <a:prstGeom prst="roundRect">
            <a:avLst>
              <a:gd name="adj" fmla="val 5714"/>
            </a:avLst>
          </a:prstGeom>
          <a:solidFill>
            <a:schemeClr val="bg2"/>
          </a:solidFill>
          <a:ln w="6350">
            <a:solidFill>
              <a:schemeClr val="bg2"/>
            </a:solidFill>
            <a:prstDash val="solid"/>
          </a:ln>
        </p:spPr>
      </p:sp>
      <p:sp>
        <p:nvSpPr>
          <p:cNvPr id="6" name="Text 3"/>
          <p:cNvSpPr txBox="1"/>
          <p:nvPr/>
        </p:nvSpPr>
        <p:spPr>
          <a:xfrm>
            <a:off x="8229600" y="1527048"/>
            <a:ext cx="320040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4 of 33</a:t>
            </a:r>
            <a:endParaRPr lang="en-US" sz="3200" dirty="0"/>
          </a:p>
        </p:txBody>
      </p:sp>
      <p:sp>
        <p:nvSpPr>
          <p:cNvPr id="7" name="Text 4"/>
          <p:cNvSpPr txBox="1"/>
          <p:nvPr/>
        </p:nvSpPr>
        <p:spPr>
          <a:xfrm>
            <a:off x="8229600" y="2130552"/>
            <a:ext cx="3246120" cy="502920"/>
          </a:xfrm>
          <a:prstGeom prst="rect">
            <a:avLst/>
          </a:prstGeom>
          <a:noFill/>
          <a:ln/>
        </p:spPr>
        <p:txBody>
          <a:bodyPr wrap="square" lIns="0" tIns="0" rIns="0" bIns="0" rtlCol="0" anchor="t"/>
          <a:lstStyle/>
          <a:p>
            <a:pPr indent="0" marL="0">
              <a:buNone/>
            </a:pPr>
            <a:r>
              <a:rPr lang="en-US" sz="1400" dirty="0">
                <a:solidFill>
                  <a:schemeClr val="tx2"/>
                </a:solidFill>
              </a:rPr>
              <a:t>claims selected at the default threshold of 30</a:t>
            </a:r>
            <a:endParaRPr lang="en-US" sz="1400" dirty="0"/>
          </a:p>
        </p:txBody>
      </p:sp>
      <p:sp>
        <p:nvSpPr>
          <p:cNvPr id="8" name="kpi 2"/>
          <p:cNvSpPr/>
          <p:nvPr/>
        </p:nvSpPr>
        <p:spPr>
          <a:xfrm>
            <a:off x="8001000" y="2880360"/>
            <a:ext cx="3611880" cy="1280160"/>
          </a:xfrm>
          <a:prstGeom prst="roundRect">
            <a:avLst>
              <a:gd name="adj" fmla="val 5714"/>
            </a:avLst>
          </a:prstGeom>
          <a:solidFill>
            <a:schemeClr val="bg2"/>
          </a:solidFill>
          <a:ln w="6350">
            <a:solidFill>
              <a:schemeClr val="bg2"/>
            </a:solidFill>
            <a:prstDash val="solid"/>
          </a:ln>
        </p:spPr>
      </p:sp>
      <p:sp>
        <p:nvSpPr>
          <p:cNvPr id="9" name="Text 6"/>
          <p:cNvSpPr txBox="1"/>
          <p:nvPr/>
        </p:nvSpPr>
        <p:spPr>
          <a:xfrm>
            <a:off x="8229600" y="2990088"/>
            <a:ext cx="320040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$21,661</a:t>
            </a:r>
            <a:endParaRPr lang="en-US" sz="3200" dirty="0"/>
          </a:p>
        </p:txBody>
      </p:sp>
      <p:sp>
        <p:nvSpPr>
          <p:cNvPr id="10" name="Text 7"/>
          <p:cNvSpPr txBox="1"/>
          <p:nvPr/>
        </p:nvSpPr>
        <p:spPr>
          <a:xfrm>
            <a:off x="8229600" y="3593592"/>
            <a:ext cx="3246120" cy="502920"/>
          </a:xfrm>
          <a:prstGeom prst="rect">
            <a:avLst/>
          </a:prstGeom>
          <a:noFill/>
          <a:ln/>
        </p:spPr>
        <p:txBody>
          <a:bodyPr wrap="square" lIns="0" tIns="0" rIns="0" bIns="0" rtlCol="0" anchor="t"/>
          <a:lstStyle/>
          <a:p>
            <a:pPr indent="0" marL="0">
              <a:buNone/>
            </a:pPr>
            <a:r>
              <a:rPr lang="en-US" sz="1400" dirty="0">
                <a:solidFill>
                  <a:schemeClr val="tx2"/>
                </a:solidFill>
              </a:rPr>
              <a:t>expected recovery, of $75,159 if every finding were upheld</a:t>
            </a:r>
            <a:endParaRPr lang="en-US" sz="1400" dirty="0"/>
          </a:p>
        </p:txBody>
      </p:sp>
      <p:sp>
        <p:nvSpPr>
          <p:cNvPr id="11" name="kpi 3"/>
          <p:cNvSpPr/>
          <p:nvPr/>
        </p:nvSpPr>
        <p:spPr>
          <a:xfrm>
            <a:off x="8001000" y="4343400"/>
            <a:ext cx="3611880" cy="1280160"/>
          </a:xfrm>
          <a:prstGeom prst="roundRect">
            <a:avLst>
              <a:gd name="adj" fmla="val 5714"/>
            </a:avLst>
          </a:prstGeom>
          <a:solidFill>
            <a:schemeClr val="bg2"/>
          </a:solidFill>
          <a:ln w="6350">
            <a:solidFill>
              <a:schemeClr val="bg2"/>
            </a:solidFill>
            <a:prstDash val="solid"/>
          </a:ln>
        </p:spPr>
      </p:sp>
      <p:sp>
        <p:nvSpPr>
          <p:cNvPr id="12" name="Text 9"/>
          <p:cNvSpPr txBox="1"/>
          <p:nvPr/>
        </p:nvSpPr>
        <p:spPr>
          <a:xfrm>
            <a:off x="8229600" y="4453128"/>
            <a:ext cx="3200400" cy="594360"/>
          </a:xfrm>
          <a:prstGeom prst="rect">
            <a:avLst/>
          </a:prstGeom>
          <a:noFill/>
          <a:ln/>
        </p:spPr>
        <p:txBody>
          <a:bodyPr wrap="square" lIns="0" tIns="0" rIns="0" bIns="0" rtlCol="0" anchor="ctr"/>
          <a:lstStyle/>
          <a:p>
            <a:pPr indent="0" marL="0">
              <a:buNone/>
            </a:pPr>
            <a:r>
              <a:rPr lang="en-US" sz="3200" b="1" dirty="0">
                <a:solidFill>
                  <a:schemeClr val="accent1"/>
                </a:solidFill>
                <a:latin typeface="+mj-lt" pitchFamily="34" charset="0"/>
                <a:ea typeface="+mj-lt" pitchFamily="34" charset="-122"/>
                <a:cs typeface="+mj-lt" pitchFamily="34" charset="-120"/>
              </a:rPr>
              <a:t>16</a:t>
            </a:r>
            <a:endParaRPr lang="en-US" sz="3200" dirty="0"/>
          </a:p>
        </p:txBody>
      </p:sp>
      <p:sp>
        <p:nvSpPr>
          <p:cNvPr id="13" name="Text 10"/>
          <p:cNvSpPr txBox="1"/>
          <p:nvPr/>
        </p:nvSpPr>
        <p:spPr>
          <a:xfrm>
            <a:off x="8229600" y="5056632"/>
            <a:ext cx="3246120" cy="502920"/>
          </a:xfrm>
          <a:prstGeom prst="rect">
            <a:avLst/>
          </a:prstGeom>
          <a:noFill/>
          <a:ln/>
        </p:spPr>
        <p:txBody>
          <a:bodyPr wrap="square" lIns="0" tIns="0" rIns="0" bIns="0" rtlCol="0" anchor="t"/>
          <a:lstStyle/>
          <a:p>
            <a:pPr indent="0" marL="0">
              <a:buNone/>
            </a:pPr>
            <a:r>
              <a:rPr lang="en-US" sz="1400" dirty="0">
                <a:solidFill>
                  <a:schemeClr val="tx2"/>
                </a:solidFill>
              </a:rPr>
              <a:t>claims Minimal: clean, or errors with no payment effect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Every test suite passes</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98080" cy="914400"/>
        </p:xfrm>
        <a:graphic>
          <a:graphicData uri="http://schemas.openxmlformats.org/drawingml/2006/table">
            <a:tbl>
              <a:tblPr/>
              <a:tblGrid>
                <a:gridCol w="2514600"/>
                <a:gridCol w="3520440"/>
                <a:gridCol w="1463040"/>
              </a:tblGrid>
              <a:tr h="512064">
                <a:tc>
                  <a:txBody>
                    <a:bodyPr/>
                    <a:lstStyle/>
                    <a:p>
                      <a:pPr indent="0" marL="0">
                        <a:buNone/>
                      </a:pPr>
                      <a:r>
                        <a:rPr lang="en-US" sz="1400" b="1" dirty="0">
                          <a:solidFill>
                            <a:schemeClr val="tx1"/>
                          </a:solidFill>
                        </a:rPr>
                        <a:t>Suite</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Scope</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Result</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Grouper vs drgpy</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26,468 claims · 687 DRGs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All match</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Pricer vs independent pricer</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8,310 cases incl. transfers, outliers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 $0.005</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Pricer hand calculations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3 worked payments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3 of 3</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Scenario outcomes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Findings, DRGs and payments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33 of 33</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Scoring math</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Independent recomputation</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33 of 33</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Titles and explanations</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Amounts and DRGs quoted correctly</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33 of 33</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r h="512064">
                <a:tc>
                  <a:txBody>
                    <a:bodyPr/>
                    <a:lstStyle/>
                    <a:p>
                      <a:pPr indent="0" marL="0">
                        <a:buNone/>
                      </a:pPr>
                      <a:r>
                        <a:rPr lang="en-US" sz="1400" b="1" dirty="0">
                          <a:solidFill>
                            <a:schemeClr val="tx1"/>
                          </a:solidFill>
                        </a:rPr>
                        <a:t>Browser end-to-end</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dirty="0">
                          <a:solidFill>
                            <a:schemeClr val="tx1"/>
                          </a:solidFill>
                        </a:rPr>
                        <a:t>Upload, settings, Excel export</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tcPr>
                </a:tc>
                <a:tc>
                  <a:txBody>
                    <a:bodyPr/>
                    <a:lstStyle/>
                    <a:p>
                      <a:pPr indent="0" marL="0">
                        <a:buNone/>
                      </a:pPr>
                      <a:r>
                        <a:rPr lang="en-US" sz="1400" b="1" dirty="0">
                          <a:solidFill>
                            <a:schemeClr val="accent3"/>
                          </a:solidFill>
                        </a:rPr>
                        <a:t>12 of 12</a:t>
                      </a:r>
                      <a:endParaRPr lang="en-US" sz="1400" dirty="0"/>
                    </a:p>
                  </a:txBody>
                  <a:tcPr marL="109728" marR="109728" marT="0" marB="0" anchor="ctr">
                    <a:lnL w="9525" cap="flat" cmpd="sng" algn="ctr">
                      <a:solidFill>
                        <a:srgbClr val="D9E4E7"/>
                      </a:solidFill>
                      <a:prstDash val="solid"/>
                      <a:round/>
                      <a:headEnd type="none" w="med" len="med"/>
                      <a:tailEnd type="none" w="med" len="med"/>
                    </a:lnL>
                    <a:lnR w="9525" cap="flat" cmpd="sng" algn="ctr">
                      <a:solidFill>
                        <a:srgbClr val="D9E4E7"/>
                      </a:solidFill>
                      <a:prstDash val="solid"/>
                      <a:round/>
                      <a:headEnd type="none" w="med" len="med"/>
                      <a:tailEnd type="none" w="med" len="med"/>
                    </a:lnR>
                    <a:lnT w="9525" cap="flat" cmpd="sng" algn="ctr">
                      <a:solidFill>
                        <a:srgbClr val="D9E4E7"/>
                      </a:solidFill>
                      <a:prstDash val="solid"/>
                      <a:round/>
                      <a:headEnd type="none" w="med" len="med"/>
                      <a:tailEnd type="none" w="med" len="med"/>
                    </a:lnT>
                    <a:lnB w="9525" cap="flat" cmpd="sng" algn="ctr">
                      <a:solidFill>
                        <a:srgbClr val="D9E4E7"/>
                      </a:solidFill>
                      <a:prstDash val="solid"/>
                      <a:round/>
                      <a:headEnd type="none" w="med" len="med"/>
                      <a:tailEnd type="none" w="med" len="med"/>
                    </a:lnB>
                    <a:solidFill>
                      <a:srgbClr val="E3F1E8"/>
                    </a:solidFill>
                  </a:tcPr>
                </a:tc>
              </a:tr>
            </a:tbl>
          </a:graphicData>
        </a:graphic>
      </p:graphicFrame>
      <p:sp>
        <p:nvSpPr>
          <p:cNvPr id="4" name="fixes card"/>
          <p:cNvSpPr/>
          <p:nvPr/>
        </p:nvSpPr>
        <p:spPr>
          <a:xfrm>
            <a:off x="8412480" y="1417320"/>
            <a:ext cx="3200400" cy="4096512"/>
          </a:xfrm>
          <a:prstGeom prst="roundRect">
            <a:avLst>
              <a:gd name="adj" fmla="val 2286"/>
            </a:avLst>
          </a:prstGeom>
          <a:solidFill>
            <a:schemeClr val="bg2"/>
          </a:solidFill>
          <a:ln w="6350">
            <a:solidFill>
              <a:schemeClr val="bg2"/>
            </a:solidFill>
            <a:prstDash val="solid"/>
          </a:ln>
        </p:spPr>
      </p:sp>
      <p:sp>
        <p:nvSpPr>
          <p:cNvPr id="5" name="Text 2"/>
          <p:cNvSpPr txBox="1"/>
          <p:nvPr/>
        </p:nvSpPr>
        <p:spPr>
          <a:xfrm>
            <a:off x="8641080" y="1600200"/>
            <a:ext cx="2834640" cy="685800"/>
          </a:xfrm>
          <a:prstGeom prst="rect">
            <a:avLst/>
          </a:prstGeom>
          <a:noFill/>
          <a:ln/>
        </p:spPr>
        <p:txBody>
          <a:bodyPr wrap="square" lIns="0" tIns="0" rIns="0" bIns="0" rtlCol="0" anchor="t"/>
          <a:lstStyle/>
          <a:p>
            <a:pPr indent="0" marL="0">
              <a:buNone/>
            </a:pPr>
            <a:r>
              <a:rPr lang="en-US" sz="1800" b="1" dirty="0">
                <a:solidFill>
                  <a:schemeClr val="tx1"/>
                </a:solidFill>
              </a:rPr>
              <a:t>10 issues found and fixed</a:t>
            </a:r>
            <a:endParaRPr lang="en-US" sz="1800" dirty="0"/>
          </a:p>
        </p:txBody>
      </p:sp>
      <p:sp>
        <p:nvSpPr>
          <p:cNvPr id="6" name="Text 3"/>
          <p:cNvSpPr txBox="1"/>
          <p:nvPr/>
        </p:nvSpPr>
        <p:spPr>
          <a:xfrm>
            <a:off x="8641080" y="2331720"/>
            <a:ext cx="2788920" cy="30175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Transfer status codes aligned to CMS SE1411</a:t>
            </a:r>
            <a:endParaRPr lang="en-US" sz="1400" dirty="0"/>
          </a:p>
          <a:p>
            <a:pPr marL="228600" indent="-228600">
              <a:spcAft>
                <a:spcPts val="800"/>
              </a:spcAft>
              <a:buSzPct val="100000"/>
              <a:buChar char="•"/>
            </a:pPr>
            <a:r>
              <a:rPr lang="en-US" sz="1400" dirty="0">
                <a:solidFill>
                  <a:schemeClr val="tx1"/>
                </a:solidFill>
              </a:rPr>
              <a:t>Retired code N18.3 caught by the FY 2026 code check</a:t>
            </a:r>
            <a:endParaRPr lang="en-US" sz="1400" dirty="0"/>
          </a:p>
          <a:p>
            <a:pPr marL="228600" indent="-228600">
              <a:spcAft>
                <a:spcPts val="800"/>
              </a:spcAft>
              <a:buSzPct val="100000"/>
              <a:buChar char="•"/>
            </a:pPr>
            <a:r>
              <a:rPr lang="en-US" sz="1400" dirty="0">
                <a:solidFill>
                  <a:schemeClr val="tx1"/>
                </a:solidFill>
              </a:rPr>
              <a:t>New joint check for MCCs that shadow each other</a:t>
            </a:r>
            <a:endParaRPr lang="en-US" sz="1400" dirty="0"/>
          </a:p>
          <a:p>
            <a:pPr marL="228600" indent="-228600">
              <a:spcAft>
                <a:spcPts val="800"/>
              </a:spcAft>
              <a:buSzPct val="100000"/>
              <a:buChar char="•"/>
            </a:pPr>
            <a:r>
              <a:rPr lang="en-US" sz="1400" dirty="0">
                <a:solidFill>
                  <a:schemeClr val="tx1"/>
                </a:solidFill>
              </a:rPr>
              <a:t>Underpayment and ungroupable claims now titled as such</a:t>
            </a:r>
            <a:endParaRPr lang="en-US" sz="1400" dirty="0"/>
          </a:p>
        </p:txBody>
      </p:sp>
      <p:sp>
        <p:nvSpPr>
          <p:cNvPr id="7" name="Text 4"/>
          <p:cNvSpPr txBox="1"/>
          <p:nvPr/>
        </p:nvSpPr>
        <p:spPr>
          <a:xfrm>
            <a:off x="548640" y="5669280"/>
            <a:ext cx="11064240" cy="411480"/>
          </a:xfrm>
          <a:prstGeom prst="rect">
            <a:avLst/>
          </a:prstGeom>
          <a:noFill/>
          <a:ln/>
        </p:spPr>
        <p:txBody>
          <a:bodyPr wrap="square" lIns="0" tIns="0" rIns="0" bIns="0" rtlCol="0" anchor="t"/>
          <a:lstStyle/>
          <a:p>
            <a:pPr indent="0" marL="0">
              <a:buNone/>
            </a:pPr>
            <a:r>
              <a:rPr lang="en-US" sz="1600" dirty="0">
                <a:solidFill>
                  <a:schemeClr val="tx1"/>
                </a:solidFill>
              </a:rPr>
              <a:t>Tests run the shipped HTML file’s own code against independent references.</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How to run it on your claims</a:t>
            </a:r>
            <a:endParaRPr lang="en-US" sz="3600" dirty="0"/>
          </a:p>
        </p:txBody>
      </p:sp>
      <p:sp>
        <p:nvSpPr>
          <p:cNvPr id="3" name="use step 1"/>
          <p:cNvSpPr/>
          <p:nvPr/>
        </p:nvSpPr>
        <p:spPr>
          <a:xfrm>
            <a:off x="548640" y="1508760"/>
            <a:ext cx="502920" cy="502920"/>
          </a:xfrm>
          <a:prstGeom prst="ellipse">
            <a:avLst/>
          </a:prstGeom>
          <a:solidFill>
            <a:schemeClr val="accent2"/>
          </a:solidFill>
          <a:ln w="6350">
            <a:solidFill>
              <a:schemeClr val="accent2"/>
            </a:solidFill>
            <a:prstDash val="solid"/>
          </a:ln>
        </p:spPr>
      </p:sp>
      <p:sp>
        <p:nvSpPr>
          <p:cNvPr id="4" name="Text 2"/>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280160" y="1463040"/>
            <a:ext cx="4114800" cy="365760"/>
          </a:xfrm>
          <a:prstGeom prst="rect">
            <a:avLst/>
          </a:prstGeom>
          <a:noFill/>
          <a:ln/>
        </p:spPr>
        <p:txBody>
          <a:bodyPr wrap="square" lIns="0" tIns="0" rIns="0" bIns="0" rtlCol="0" anchor="t"/>
          <a:lstStyle/>
          <a:p>
            <a:pPr indent="0" marL="0">
              <a:buNone/>
            </a:pPr>
            <a:r>
              <a:rPr lang="en-US" sz="1800" b="1" dirty="0">
                <a:solidFill>
                  <a:schemeClr val="tx1"/>
                </a:solidFill>
              </a:rPr>
              <a:t>Fill in the template</a:t>
            </a:r>
            <a:endParaRPr lang="en-US" sz="1800" dirty="0"/>
          </a:p>
        </p:txBody>
      </p:sp>
      <p:sp>
        <p:nvSpPr>
          <p:cNvPr id="6" name="Text 4"/>
          <p:cNvSpPr txBox="1"/>
          <p:nvPr/>
        </p:nvSpPr>
        <p:spPr>
          <a:xfrm>
            <a:off x="1280160" y="1847088"/>
            <a:ext cx="4114800" cy="548640"/>
          </a:xfrm>
          <a:prstGeom prst="rect">
            <a:avLst/>
          </a:prstGeom>
          <a:noFill/>
          <a:ln/>
        </p:spPr>
        <p:txBody>
          <a:bodyPr wrap="square" lIns="0" tIns="0" rIns="0" bIns="0" rtlCol="0" anchor="t"/>
          <a:lstStyle/>
          <a:p>
            <a:pPr indent="0" marL="0">
              <a:buNone/>
            </a:pPr>
            <a:r>
              <a:rPr lang="en-US" sz="1400" dirty="0">
                <a:solidFill>
                  <a:schemeClr val="tx2"/>
                </a:solidFill>
              </a:rPr>
              <a:t>One row per claim; claim_id and diagnosis columns are required</a:t>
            </a:r>
            <a:endParaRPr lang="en-US" sz="1400" dirty="0"/>
          </a:p>
        </p:txBody>
      </p:sp>
      <p:sp>
        <p:nvSpPr>
          <p:cNvPr id="7" name="use step 2"/>
          <p:cNvSpPr/>
          <p:nvPr/>
        </p:nvSpPr>
        <p:spPr>
          <a:xfrm>
            <a:off x="548640" y="2606040"/>
            <a:ext cx="502920" cy="502920"/>
          </a:xfrm>
          <a:prstGeom prst="ellipse">
            <a:avLst/>
          </a:prstGeom>
          <a:solidFill>
            <a:schemeClr val="accent2"/>
          </a:solidFill>
          <a:ln w="6350">
            <a:solidFill>
              <a:schemeClr val="accent2"/>
            </a:solidFill>
            <a:prstDash val="solid"/>
          </a:ln>
        </p:spPr>
      </p:sp>
      <p:sp>
        <p:nvSpPr>
          <p:cNvPr id="8" name="Text 6"/>
          <p:cNvSpPr txBox="1"/>
          <p:nvPr/>
        </p:nvSpPr>
        <p:spPr>
          <a:xfrm>
            <a:off x="548640" y="260604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280160" y="2560320"/>
            <a:ext cx="4114800" cy="365760"/>
          </a:xfrm>
          <a:prstGeom prst="rect">
            <a:avLst/>
          </a:prstGeom>
          <a:noFill/>
          <a:ln/>
        </p:spPr>
        <p:txBody>
          <a:bodyPr wrap="square" lIns="0" tIns="0" rIns="0" bIns="0" rtlCol="0" anchor="t"/>
          <a:lstStyle/>
          <a:p>
            <a:pPr indent="0" marL="0">
              <a:buNone/>
            </a:pPr>
            <a:r>
              <a:rPr lang="en-US" sz="1800" b="1" dirty="0">
                <a:solidFill>
                  <a:schemeClr val="tx1"/>
                </a:solidFill>
              </a:rPr>
              <a:t>Upload and confirm columns</a:t>
            </a:r>
            <a:endParaRPr lang="en-US" sz="1800" dirty="0"/>
          </a:p>
        </p:txBody>
      </p:sp>
      <p:sp>
        <p:nvSpPr>
          <p:cNvPr id="10" name="Text 8"/>
          <p:cNvSpPr txBox="1"/>
          <p:nvPr/>
        </p:nvSpPr>
        <p:spPr>
          <a:xfrm>
            <a:off x="1280160" y="2944368"/>
            <a:ext cx="4114800" cy="548640"/>
          </a:xfrm>
          <a:prstGeom prst="rect">
            <a:avLst/>
          </a:prstGeom>
          <a:noFill/>
          <a:ln/>
        </p:spPr>
        <p:txBody>
          <a:bodyPr wrap="square" lIns="0" tIns="0" rIns="0" bIns="0" rtlCol="0" anchor="t"/>
          <a:lstStyle/>
          <a:p>
            <a:pPr indent="0" marL="0">
              <a:buNone/>
            </a:pPr>
            <a:r>
              <a:rPr lang="en-US" sz="1400" dirty="0">
                <a:solidFill>
                  <a:schemeClr val="tx2"/>
                </a:solidFill>
              </a:rPr>
              <a:t>The page finds the claims sheet and maps the columns</a:t>
            </a:r>
            <a:endParaRPr lang="en-US" sz="1400" dirty="0"/>
          </a:p>
        </p:txBody>
      </p:sp>
      <p:sp>
        <p:nvSpPr>
          <p:cNvPr id="11" name="use step 3"/>
          <p:cNvSpPr/>
          <p:nvPr/>
        </p:nvSpPr>
        <p:spPr>
          <a:xfrm>
            <a:off x="548640" y="3703320"/>
            <a:ext cx="502920" cy="502920"/>
          </a:xfrm>
          <a:prstGeom prst="ellipse">
            <a:avLst/>
          </a:prstGeom>
          <a:solidFill>
            <a:schemeClr val="accent2"/>
          </a:solidFill>
          <a:ln w="6350">
            <a:solidFill>
              <a:schemeClr val="accent2"/>
            </a:solidFill>
            <a:prstDash val="solid"/>
          </a:ln>
        </p:spPr>
      </p:sp>
      <p:sp>
        <p:nvSpPr>
          <p:cNvPr id="12" name="Text 10"/>
          <p:cNvSpPr txBox="1"/>
          <p:nvPr/>
        </p:nvSpPr>
        <p:spPr>
          <a:xfrm>
            <a:off x="54864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280160" y="3657600"/>
            <a:ext cx="4114800" cy="365760"/>
          </a:xfrm>
          <a:prstGeom prst="rect">
            <a:avLst/>
          </a:prstGeom>
          <a:noFill/>
          <a:ln/>
        </p:spPr>
        <p:txBody>
          <a:bodyPr wrap="square" lIns="0" tIns="0" rIns="0" bIns="0" rtlCol="0" anchor="t"/>
          <a:lstStyle/>
          <a:p>
            <a:pPr indent="0" marL="0">
              <a:buNone/>
            </a:pPr>
            <a:r>
              <a:rPr lang="en-US" sz="1800" b="1" dirty="0">
                <a:solidFill>
                  <a:schemeClr val="tx1"/>
                </a:solidFill>
              </a:rPr>
              <a:t>Set hospital factors</a:t>
            </a:r>
            <a:endParaRPr lang="en-US" sz="1800" dirty="0"/>
          </a:p>
        </p:txBody>
      </p:sp>
      <p:sp>
        <p:nvSpPr>
          <p:cNvPr id="14" name="Text 12"/>
          <p:cNvSpPr txBox="1"/>
          <p:nvPr/>
        </p:nvSpPr>
        <p:spPr>
          <a:xfrm>
            <a:off x="1280160" y="4041648"/>
            <a:ext cx="4114800" cy="548640"/>
          </a:xfrm>
          <a:prstGeom prst="rect">
            <a:avLst/>
          </a:prstGeom>
          <a:noFill/>
          <a:ln/>
        </p:spPr>
        <p:txBody>
          <a:bodyPr wrap="square" lIns="0" tIns="0" rIns="0" bIns="0" rtlCol="0" anchor="t"/>
          <a:lstStyle/>
          <a:p>
            <a:pPr indent="0" marL="0">
              <a:buNone/>
            </a:pPr>
            <a:r>
              <a:rPr lang="en-US" sz="1400" dirty="0">
                <a:solidFill>
                  <a:schemeClr val="tx2"/>
                </a:solidFill>
              </a:rPr>
              <a:t>Wage index, COLA, IME, DSH and cost-to-charge ratio</a:t>
            </a:r>
            <a:endParaRPr lang="en-US" sz="1400" dirty="0"/>
          </a:p>
        </p:txBody>
      </p:sp>
      <p:sp>
        <p:nvSpPr>
          <p:cNvPr id="15" name="use step 4"/>
          <p:cNvSpPr/>
          <p:nvPr/>
        </p:nvSpPr>
        <p:spPr>
          <a:xfrm>
            <a:off x="548640" y="4800600"/>
            <a:ext cx="502920" cy="502920"/>
          </a:xfrm>
          <a:prstGeom prst="ellipse">
            <a:avLst/>
          </a:prstGeom>
          <a:solidFill>
            <a:schemeClr val="accent2"/>
          </a:solidFill>
          <a:ln w="6350">
            <a:solidFill>
              <a:schemeClr val="accent2"/>
            </a:solidFill>
            <a:prstDash val="solid"/>
          </a:ln>
        </p:spPr>
      </p:sp>
      <p:sp>
        <p:nvSpPr>
          <p:cNvPr id="16" name="Text 14"/>
          <p:cNvSpPr txBox="1"/>
          <p:nvPr/>
        </p:nvSpPr>
        <p:spPr>
          <a:xfrm>
            <a:off x="548640" y="48006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280160" y="4754880"/>
            <a:ext cx="4114800" cy="365760"/>
          </a:xfrm>
          <a:prstGeom prst="rect">
            <a:avLst/>
          </a:prstGeom>
          <a:noFill/>
          <a:ln/>
        </p:spPr>
        <p:txBody>
          <a:bodyPr wrap="square" lIns="0" tIns="0" rIns="0" bIns="0" rtlCol="0" anchor="t"/>
          <a:lstStyle/>
          <a:p>
            <a:pPr indent="0" marL="0">
              <a:buNone/>
            </a:pPr>
            <a:r>
              <a:rPr lang="en-US" sz="1800" b="1" dirty="0">
                <a:solidFill>
                  <a:schemeClr val="tx1"/>
                </a:solidFill>
              </a:rPr>
              <a:t>Review and export</a:t>
            </a:r>
            <a:endParaRPr lang="en-US" sz="1800" dirty="0"/>
          </a:p>
        </p:txBody>
      </p:sp>
      <p:sp>
        <p:nvSpPr>
          <p:cNvPr id="18" name="Text 16"/>
          <p:cNvSpPr txBox="1"/>
          <p:nvPr/>
        </p:nvSpPr>
        <p:spPr>
          <a:xfrm>
            <a:off x="1280160" y="5138928"/>
            <a:ext cx="4114800" cy="548640"/>
          </a:xfrm>
          <a:prstGeom prst="rect">
            <a:avLst/>
          </a:prstGeom>
          <a:noFill/>
          <a:ln/>
        </p:spPr>
        <p:txBody>
          <a:bodyPr wrap="square" lIns="0" tIns="0" rIns="0" bIns="0" rtlCol="0" anchor="t"/>
          <a:lstStyle/>
          <a:p>
            <a:pPr indent="0" marL="0">
              <a:buNone/>
            </a:pPr>
            <a:r>
              <a:rPr lang="en-US" sz="1400" dirty="0">
                <a:solidFill>
                  <a:schemeClr val="tx2"/>
                </a:solidFill>
              </a:rPr>
              <a:t>Ranked claims with score cards; Excel adds six result sheets</a:t>
            </a:r>
            <a:endParaRPr lang="en-US" sz="1400" dirty="0"/>
          </a:p>
        </p:txBody>
      </p:sp>
      <p:pic>
        <p:nvPicPr>
          <p:cNvPr id="19" name="ranked screenshot" descr="Ranked claims table in the navigator">    </p:cNvPr>
          <p:cNvPicPr>
            <a:picLocks noChangeAspect="1"/>
          </p:cNvPicPr>
          <p:nvPr/>
        </p:nvPicPr>
        <p:blipFill>
          <a:blip r:embed="rId1"/>
          <a:stretch>
            <a:fillRect/>
          </a:stretch>
        </p:blipFill>
        <p:spPr>
          <a:xfrm>
            <a:off x="5760720" y="1463040"/>
            <a:ext cx="5852160" cy="2313761"/>
          </a:xfrm>
          <a:prstGeom prst="rect">
            <a:avLst/>
          </a:prstGeom>
        </p:spPr>
      </p:pic>
      <p:sp>
        <p:nvSpPr>
          <p:cNvPr id="20" name="screenshot frame"/>
          <p:cNvSpPr/>
          <p:nvPr/>
        </p:nvSpPr>
        <p:spPr>
          <a:xfrm>
            <a:off x="5760720" y="1463040"/>
            <a:ext cx="5852160" cy="2313761"/>
          </a:xfrm>
          <a:prstGeom prst="rect">
            <a:avLst/>
          </a:prstGeom>
          <a:ln w="9525">
            <a:solidFill>
              <a:schemeClr val="accent6"/>
            </a:solidFill>
            <a:prstDash val="solid"/>
          </a:ln>
        </p:spPr>
      </p:sp>
      <p:sp>
        <p:nvSpPr>
          <p:cNvPr id="21" name="Text 18"/>
          <p:cNvSpPr txBox="1"/>
          <p:nvPr/>
        </p:nvSpPr>
        <p:spPr>
          <a:xfrm>
            <a:off x="5760720" y="3886200"/>
            <a:ext cx="5852160" cy="502920"/>
          </a:xfrm>
          <a:prstGeom prst="rect">
            <a:avLst/>
          </a:prstGeom>
          <a:noFill/>
          <a:ln/>
        </p:spPr>
        <p:txBody>
          <a:bodyPr wrap="square" lIns="0" tIns="0" rIns="0" bIns="0" rtlCol="0" anchor="t"/>
          <a:lstStyle/>
          <a:p>
            <a:pPr indent="0" marL="0">
              <a:buNone/>
            </a:pPr>
            <a:r>
              <a:rPr lang="en-US" sz="1200" i="1" dirty="0">
                <a:solidFill>
                  <a:schemeClr val="accent5"/>
                </a:solidFill>
              </a:rPr>
              <a:t>Ranked claims in the page: score, billed DRG and payment, DRG and payment if upheld, expected recovery, title</a:t>
            </a:r>
            <a:endParaRPr lang="en-US" sz="1200" dirty="0"/>
          </a:p>
        </p:txBody>
      </p:sp>
      <p:sp>
        <p:nvSpPr>
          <p:cNvPr id="22" name="Text 19"/>
          <p:cNvSpPr txBox="1"/>
          <p:nvPr/>
        </p:nvSpPr>
        <p:spPr>
          <a:xfrm>
            <a:off x="5760720" y="4709160"/>
            <a:ext cx="5852160" cy="822960"/>
          </a:xfrm>
          <a:prstGeom prst="rect">
            <a:avLst/>
          </a:prstGeom>
          <a:noFill/>
          <a:ln/>
        </p:spPr>
        <p:txBody>
          <a:bodyPr wrap="square" lIns="0" tIns="0" rIns="0" bIns="0" rtlCol="0" anchor="t"/>
          <a:lstStyle/>
          <a:p>
            <a:pPr indent="0" marL="0">
              <a:buNone/>
            </a:pPr>
            <a:r>
              <a:rPr lang="en-US" sz="1400" dirty="0">
                <a:solidFill>
                  <a:schemeClr val="tx1"/>
                </a:solidFill>
              </a:rPr>
              <a:t>Files: guideline_navigator.html · Claims_Upload_Template.xlsx · How_The_Overpayment_Scorer_Works.docx · Test_Report.xlsx</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Next: calibrate with real audit results</a:t>
            </a:r>
            <a:endParaRPr lang="en-US" sz="3600" dirty="0"/>
          </a:p>
        </p:txBody>
      </p:sp>
      <p:sp>
        <p:nvSpPr>
          <p:cNvPr id="3" name="next 1"/>
          <p:cNvSpPr/>
          <p:nvPr/>
        </p:nvSpPr>
        <p:spPr>
          <a:xfrm>
            <a:off x="548640" y="1463040"/>
            <a:ext cx="5394960" cy="1737360"/>
          </a:xfrm>
          <a:prstGeom prst="roundRect">
            <a:avLst>
              <a:gd name="adj" fmla="val 4211"/>
            </a:avLst>
          </a:prstGeom>
          <a:solidFill>
            <a:schemeClr val="tx2"/>
          </a:solidFill>
          <a:ln w="6350">
            <a:solidFill>
              <a:schemeClr val="tx2"/>
            </a:solidFill>
            <a:prstDash val="solid"/>
          </a:ln>
        </p:spPr>
      </p:sp>
      <p:sp>
        <p:nvSpPr>
          <p:cNvPr id="4" name="next number 1"/>
          <p:cNvSpPr/>
          <p:nvPr/>
        </p:nvSpPr>
        <p:spPr>
          <a:xfrm>
            <a:off x="822960" y="1737360"/>
            <a:ext cx="502920" cy="502920"/>
          </a:xfrm>
          <a:prstGeom prst="ellipse">
            <a:avLst/>
          </a:prstGeom>
          <a:solidFill>
            <a:schemeClr val="accent1"/>
          </a:solidFill>
          <a:ln w="6350">
            <a:solidFill>
              <a:schemeClr val="accent1"/>
            </a:solidFill>
            <a:prstDash val="solid"/>
          </a:ln>
        </p:spPr>
      </p:sp>
      <p:sp>
        <p:nvSpPr>
          <p:cNvPr id="5" name="Text 3"/>
          <p:cNvSpPr txBox="1"/>
          <p:nvPr/>
        </p:nvSpPr>
        <p:spPr>
          <a:xfrm>
            <a:off x="82296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554480" y="1737360"/>
            <a:ext cx="4160520" cy="502920"/>
          </a:xfrm>
          <a:prstGeom prst="rect">
            <a:avLst/>
          </a:prstGeom>
          <a:noFill/>
          <a:ln/>
        </p:spPr>
        <p:txBody>
          <a:bodyPr wrap="square" lIns="0" tIns="0" rIns="0" bIns="0" rtlCol="0" anchor="ctr"/>
          <a:lstStyle/>
          <a:p>
            <a:pPr indent="0" marL="0">
              <a:buNone/>
            </a:pPr>
            <a:r>
              <a:rPr lang="en-US" sz="1800" b="1" dirty="0">
                <a:solidFill>
                  <a:schemeClr val="bg1"/>
                </a:solidFill>
              </a:rPr>
              <a:t>Calibrate the chance upheld</a:t>
            </a:r>
            <a:endParaRPr lang="en-US" sz="1800" dirty="0"/>
          </a:p>
        </p:txBody>
      </p:sp>
      <p:sp>
        <p:nvSpPr>
          <p:cNvPr id="7" name="Text 5"/>
          <p:cNvSpPr txBox="1"/>
          <p:nvPr/>
        </p:nvSpPr>
        <p:spPr>
          <a:xfrm>
            <a:off x="1554480" y="2286000"/>
            <a:ext cx="4160520" cy="777240"/>
          </a:xfrm>
          <a:prstGeom prst="rect">
            <a:avLst/>
          </a:prstGeom>
          <a:noFill/>
          <a:ln/>
        </p:spPr>
        <p:txBody>
          <a:bodyPr wrap="square" lIns="0" tIns="0" rIns="0" bIns="0" rtlCol="0" anchor="t"/>
          <a:lstStyle/>
          <a:p>
            <a:pPr indent="0" marL="0">
              <a:buNone/>
            </a:pPr>
            <a:r>
              <a:rPr lang="en-US" sz="1400" dirty="0">
                <a:solidFill>
                  <a:schemeClr val="accent6"/>
                </a:solidFill>
              </a:rPr>
              <a:t>Load past audit outcomes and replace the estimated base rates with measured finding rates</a:t>
            </a:r>
            <a:endParaRPr lang="en-US" sz="1400" dirty="0"/>
          </a:p>
        </p:txBody>
      </p:sp>
      <p:sp>
        <p:nvSpPr>
          <p:cNvPr id="8" name="next 2"/>
          <p:cNvSpPr/>
          <p:nvPr/>
        </p:nvSpPr>
        <p:spPr>
          <a:xfrm>
            <a:off x="6217920" y="1463040"/>
            <a:ext cx="5394960" cy="1737360"/>
          </a:xfrm>
          <a:prstGeom prst="roundRect">
            <a:avLst>
              <a:gd name="adj" fmla="val 4211"/>
            </a:avLst>
          </a:prstGeom>
          <a:solidFill>
            <a:schemeClr val="tx2"/>
          </a:solidFill>
          <a:ln w="6350">
            <a:solidFill>
              <a:schemeClr val="tx2"/>
            </a:solidFill>
            <a:prstDash val="solid"/>
          </a:ln>
        </p:spPr>
      </p:sp>
      <p:sp>
        <p:nvSpPr>
          <p:cNvPr id="9" name="next number 2"/>
          <p:cNvSpPr/>
          <p:nvPr/>
        </p:nvSpPr>
        <p:spPr>
          <a:xfrm>
            <a:off x="6492240" y="1737360"/>
            <a:ext cx="502920" cy="502920"/>
          </a:xfrm>
          <a:prstGeom prst="ellipse">
            <a:avLst/>
          </a:prstGeom>
          <a:solidFill>
            <a:schemeClr val="accent1"/>
          </a:solidFill>
          <a:ln w="6350">
            <a:solidFill>
              <a:schemeClr val="accent1"/>
            </a:solidFill>
            <a:prstDash val="solid"/>
          </a:ln>
        </p:spPr>
      </p:sp>
      <p:sp>
        <p:nvSpPr>
          <p:cNvPr id="10" name="Text 8"/>
          <p:cNvSpPr txBox="1"/>
          <p:nvPr/>
        </p:nvSpPr>
        <p:spPr>
          <a:xfrm>
            <a:off x="649224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7223760" y="1737360"/>
            <a:ext cx="4160520" cy="502920"/>
          </a:xfrm>
          <a:prstGeom prst="rect">
            <a:avLst/>
          </a:prstGeom>
          <a:noFill/>
          <a:ln/>
        </p:spPr>
        <p:txBody>
          <a:bodyPr wrap="square" lIns="0" tIns="0" rIns="0" bIns="0" rtlCol="0" anchor="ctr"/>
          <a:lstStyle/>
          <a:p>
            <a:pPr indent="0" marL="0">
              <a:buNone/>
            </a:pPr>
            <a:r>
              <a:rPr lang="en-US" sz="1800" b="1" dirty="0">
                <a:solidFill>
                  <a:schemeClr val="bg1"/>
                </a:solidFill>
              </a:rPr>
              <a:t>Add present-on-admission flags</a:t>
            </a:r>
            <a:endParaRPr lang="en-US" sz="1800" dirty="0"/>
          </a:p>
        </p:txBody>
      </p:sp>
      <p:sp>
        <p:nvSpPr>
          <p:cNvPr id="12" name="Text 10"/>
          <p:cNvSpPr txBox="1"/>
          <p:nvPr/>
        </p:nvSpPr>
        <p:spPr>
          <a:xfrm>
            <a:off x="7223760" y="2286000"/>
            <a:ext cx="4160520" cy="777240"/>
          </a:xfrm>
          <a:prstGeom prst="rect">
            <a:avLst/>
          </a:prstGeom>
          <a:noFill/>
          <a:ln/>
        </p:spPr>
        <p:txBody>
          <a:bodyPr wrap="square" lIns="0" tIns="0" rIns="0" bIns="0" rtlCol="0" anchor="t"/>
          <a:lstStyle/>
          <a:p>
            <a:pPr indent="0" marL="0">
              <a:buNone/>
            </a:pPr>
            <a:r>
              <a:rPr lang="en-US" sz="1400" dirty="0">
                <a:solidFill>
                  <a:schemeClr val="accent6"/>
                </a:solidFill>
              </a:rPr>
              <a:t>Turns on hospital-acquired-condition logic in the grouper</a:t>
            </a:r>
            <a:endParaRPr lang="en-US" sz="1400" dirty="0"/>
          </a:p>
        </p:txBody>
      </p:sp>
      <p:sp>
        <p:nvSpPr>
          <p:cNvPr id="13" name="next 3"/>
          <p:cNvSpPr/>
          <p:nvPr/>
        </p:nvSpPr>
        <p:spPr>
          <a:xfrm>
            <a:off x="548640" y="3429000"/>
            <a:ext cx="5394960" cy="1737360"/>
          </a:xfrm>
          <a:prstGeom prst="roundRect">
            <a:avLst>
              <a:gd name="adj" fmla="val 4211"/>
            </a:avLst>
          </a:prstGeom>
          <a:solidFill>
            <a:schemeClr val="tx2"/>
          </a:solidFill>
          <a:ln w="6350">
            <a:solidFill>
              <a:schemeClr val="tx2"/>
            </a:solidFill>
            <a:prstDash val="solid"/>
          </a:ln>
        </p:spPr>
      </p:sp>
      <p:sp>
        <p:nvSpPr>
          <p:cNvPr id="14" name="next number 3"/>
          <p:cNvSpPr/>
          <p:nvPr/>
        </p:nvSpPr>
        <p:spPr>
          <a:xfrm>
            <a:off x="822960" y="3703320"/>
            <a:ext cx="502920" cy="502920"/>
          </a:xfrm>
          <a:prstGeom prst="ellipse">
            <a:avLst/>
          </a:prstGeom>
          <a:solidFill>
            <a:schemeClr val="accent1"/>
          </a:solidFill>
          <a:ln w="6350">
            <a:solidFill>
              <a:schemeClr val="accent1"/>
            </a:solidFill>
            <a:prstDash val="solid"/>
          </a:ln>
        </p:spPr>
      </p:sp>
      <p:sp>
        <p:nvSpPr>
          <p:cNvPr id="15" name="Text 13"/>
          <p:cNvSpPr txBox="1"/>
          <p:nvPr/>
        </p:nvSpPr>
        <p:spPr>
          <a:xfrm>
            <a:off x="82296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1554480" y="3703320"/>
            <a:ext cx="4160520" cy="502920"/>
          </a:xfrm>
          <a:prstGeom prst="rect">
            <a:avLst/>
          </a:prstGeom>
          <a:noFill/>
          <a:ln/>
        </p:spPr>
        <p:txBody>
          <a:bodyPr wrap="square" lIns="0" tIns="0" rIns="0" bIns="0" rtlCol="0" anchor="ctr"/>
          <a:lstStyle/>
          <a:p>
            <a:pPr indent="0" marL="0">
              <a:buNone/>
            </a:pPr>
            <a:r>
              <a:rPr lang="en-US" sz="1800" b="1" dirty="0">
                <a:solidFill>
                  <a:schemeClr val="bg1"/>
                </a:solidFill>
              </a:rPr>
              <a:t>Group by discharge date</a:t>
            </a:r>
            <a:endParaRPr lang="en-US" sz="1800" dirty="0"/>
          </a:p>
        </p:txBody>
      </p:sp>
      <p:sp>
        <p:nvSpPr>
          <p:cNvPr id="17" name="Text 15"/>
          <p:cNvSpPr txBox="1"/>
          <p:nvPr/>
        </p:nvSpPr>
        <p:spPr>
          <a:xfrm>
            <a:off x="1554480" y="4251960"/>
            <a:ext cx="4160520" cy="777240"/>
          </a:xfrm>
          <a:prstGeom prst="rect">
            <a:avLst/>
          </a:prstGeom>
          <a:noFill/>
          <a:ln/>
        </p:spPr>
        <p:txBody>
          <a:bodyPr wrap="square" lIns="0" tIns="0" rIns="0" bIns="0" rtlCol="0" anchor="t"/>
          <a:lstStyle/>
          <a:p>
            <a:pPr indent="0" marL="0">
              <a:buNone/>
            </a:pPr>
            <a:r>
              <a:rPr lang="en-US" sz="1400" dirty="0">
                <a:solidFill>
                  <a:schemeClr val="accent6"/>
                </a:solidFill>
              </a:rPr>
              <a:t>drgpy covers MS-DRG v36 to v43.1; choose the version from each claim’s date</a:t>
            </a:r>
            <a:endParaRPr lang="en-US" sz="1400" dirty="0"/>
          </a:p>
        </p:txBody>
      </p:sp>
      <p:sp>
        <p:nvSpPr>
          <p:cNvPr id="18" name="next 4"/>
          <p:cNvSpPr/>
          <p:nvPr/>
        </p:nvSpPr>
        <p:spPr>
          <a:xfrm>
            <a:off x="6217920" y="3429000"/>
            <a:ext cx="5394960" cy="1737360"/>
          </a:xfrm>
          <a:prstGeom prst="roundRect">
            <a:avLst>
              <a:gd name="adj" fmla="val 4211"/>
            </a:avLst>
          </a:prstGeom>
          <a:solidFill>
            <a:schemeClr val="tx2"/>
          </a:solidFill>
          <a:ln w="6350">
            <a:solidFill>
              <a:schemeClr val="tx2"/>
            </a:solidFill>
            <a:prstDash val="solid"/>
          </a:ln>
        </p:spPr>
      </p:sp>
      <p:sp>
        <p:nvSpPr>
          <p:cNvPr id="19" name="next number 4"/>
          <p:cNvSpPr/>
          <p:nvPr/>
        </p:nvSpPr>
        <p:spPr>
          <a:xfrm>
            <a:off x="6492240" y="3703320"/>
            <a:ext cx="502920" cy="502920"/>
          </a:xfrm>
          <a:prstGeom prst="ellipse">
            <a:avLst/>
          </a:prstGeom>
          <a:solidFill>
            <a:schemeClr val="accent1"/>
          </a:solidFill>
          <a:ln w="6350">
            <a:solidFill>
              <a:schemeClr val="accent1"/>
            </a:solidFill>
            <a:prstDash val="solid"/>
          </a:ln>
        </p:spPr>
      </p:sp>
      <p:sp>
        <p:nvSpPr>
          <p:cNvPr id="20" name="Text 18"/>
          <p:cNvSpPr txBox="1"/>
          <p:nvPr/>
        </p:nvSpPr>
        <p:spPr>
          <a:xfrm>
            <a:off x="649224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7223760" y="3703320"/>
            <a:ext cx="4160520" cy="502920"/>
          </a:xfrm>
          <a:prstGeom prst="rect">
            <a:avLst/>
          </a:prstGeom>
          <a:noFill/>
          <a:ln/>
        </p:spPr>
        <p:txBody>
          <a:bodyPr wrap="square" lIns="0" tIns="0" rIns="0" bIns="0" rtlCol="0" anchor="ctr"/>
          <a:lstStyle/>
          <a:p>
            <a:pPr indent="0" marL="0">
              <a:buNone/>
            </a:pPr>
            <a:r>
              <a:rPr lang="en-US" sz="1800" b="1" dirty="0">
                <a:solidFill>
                  <a:schemeClr val="bg1"/>
                </a:solidFill>
              </a:rPr>
              <a:t>Price the add-ons</a:t>
            </a:r>
            <a:endParaRPr lang="en-US" sz="1800" dirty="0"/>
          </a:p>
        </p:txBody>
      </p:sp>
      <p:sp>
        <p:nvSpPr>
          <p:cNvPr id="22" name="Text 20"/>
          <p:cNvSpPr txBox="1"/>
          <p:nvPr/>
        </p:nvSpPr>
        <p:spPr>
          <a:xfrm>
            <a:off x="7223760" y="4251960"/>
            <a:ext cx="4160520" cy="777240"/>
          </a:xfrm>
          <a:prstGeom prst="rect">
            <a:avLst/>
          </a:prstGeom>
          <a:noFill/>
          <a:ln/>
        </p:spPr>
        <p:txBody>
          <a:bodyPr wrap="square" lIns="0" tIns="0" rIns="0" bIns="0" rtlCol="0" anchor="t"/>
          <a:lstStyle/>
          <a:p>
            <a:pPr indent="0" marL="0">
              <a:buNone/>
            </a:pPr>
            <a:r>
              <a:rPr lang="en-US" sz="1400" dirty="0">
                <a:solidFill>
                  <a:schemeClr val="accent6"/>
                </a:solidFill>
              </a:rPr>
              <a:t>New technology, readmission, HAC and VBP adjustments; outpatient claims under OPPS</a:t>
            </a:r>
            <a:endParaRPr lang="en-US" sz="1400" dirty="0"/>
          </a:p>
        </p:txBody>
      </p:sp>
      <p:sp>
        <p:nvSpPr>
          <p:cNvPr id="23" name="Text 21"/>
          <p:cNvSpPr txBox="1"/>
          <p:nvPr/>
        </p:nvSpPr>
        <p:spPr>
          <a:xfrm>
            <a:off x="548640" y="5577840"/>
            <a:ext cx="11064240" cy="457200"/>
          </a:xfrm>
          <a:prstGeom prst="rect">
            <a:avLst/>
          </a:prstGeom>
          <a:noFill/>
          <a:ln/>
        </p:spPr>
        <p:txBody>
          <a:bodyPr wrap="square" lIns="0" tIns="0" rIns="0" bIns="0" rtlCol="0" anchor="t"/>
          <a:lstStyle/>
          <a:p>
            <a:pPr indent="0" marL="0">
              <a:buNone/>
            </a:pPr>
            <a:r>
              <a:rPr lang="en-US" sz="1600" dirty="0">
                <a:solidFill>
                  <a:schemeClr val="accent6"/>
                </a:solidFill>
              </a:rPr>
              <a:t>The score shows what is at stake and how likely a finding is. Validation targets still need the medical record.</a:t>
            </a:r>
            <a:endParaRPr lang="en-US" sz="16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Payment Integrity">
  <a:themeElements>
    <a:clrScheme name="Payment Integrity">
      <a:dk1>
        <a:srgbClr val="1F2A30"/>
      </a:dk1>
      <a:lt1>
        <a:srgbClr val="FFFFFF"/>
      </a:lt1>
      <a:dk2>
        <a:srgbClr val="3F6470"/>
      </a:dk2>
      <a:lt2>
        <a:srgbClr val="EEF3F4"/>
      </a:lt2>
      <a:accent1>
        <a:srgbClr val="B42318"/>
      </a:accent1>
      <a:accent2>
        <a:srgbClr val="3F6470"/>
      </a:accent2>
      <a:accent3>
        <a:srgbClr val="2E7D5B"/>
      </a:accent3>
      <a:accent4>
        <a:srgbClr val="C9871F"/>
      </a:accent4>
      <a:accent5>
        <a:srgbClr val="8A9BA1"/>
      </a:accent5>
      <a:accent6>
        <a:srgbClr val="D9E4E7"/>
      </a:accent6>
      <a:hlink>
        <a:srgbClr val="B42318"/>
      </a:hlink>
      <a:folHlink>
        <a:srgbClr val="7A4B47"/>
      </a:folHlink>
    </a:clrScheme>
    <a:fontScheme name="Payment Integr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 overpayment scorer: overview</dc:title>
  <dc:subject>PptxGenJS Presentation</dc:subject>
  <dc:creator>Claude</dc:creator>
  <cp:lastModifiedBy>Claude</cp:lastModifiedBy>
  <cp:revision>1</cp:revision>
  <dcterms:created xsi:type="dcterms:W3CDTF">2026-10-10T13:02:28Z</dcterms:created>
  <dcterms:modified xsi:type="dcterms:W3CDTF">2026-10-10T13:02:28Z</dcterms:modified>
</cp:coreProperties>
</file>